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itya Rahardyansyah Rifat" userId="15a828ab-2d3a-43dd-bbcf-25d8d9fa0ded" providerId="ADAL" clId="{62065916-91AB-41AB-8D63-A3AAB9B19D6B}"/>
    <pc:docChg chg="modSld">
      <pc:chgData name="Raditya Rahardyansyah Rifat" userId="15a828ab-2d3a-43dd-bbcf-25d8d9fa0ded" providerId="ADAL" clId="{62065916-91AB-41AB-8D63-A3AAB9B19D6B}" dt="2026-06-12T07:30:27.021" v="0" actId="1076"/>
      <pc:docMkLst>
        <pc:docMk/>
      </pc:docMkLst>
      <pc:sldChg chg="modSp mod">
        <pc:chgData name="Raditya Rahardyansyah Rifat" userId="15a828ab-2d3a-43dd-bbcf-25d8d9fa0ded" providerId="ADAL" clId="{62065916-91AB-41AB-8D63-A3AAB9B19D6B}" dt="2026-06-12T07:30:27.021" v="0" actId="1076"/>
        <pc:sldMkLst>
          <pc:docMk/>
          <pc:sldMk cId="0" sldId="256"/>
        </pc:sldMkLst>
        <pc:spChg chg="mod">
          <ac:chgData name="Raditya Rahardyansyah Rifat" userId="15a828ab-2d3a-43dd-bbcf-25d8d9fa0ded" providerId="ADAL" clId="{62065916-91AB-41AB-8D63-A3AAB9B19D6B}" dt="2026-06-12T07:30:27.021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ESG Performance Dashboard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Multi-Framework Sustainability Report — FY2024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743200" cy="10515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0060" y="1312164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22.03M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0D8E8"/>
                </a:solidFill>
              </a:defRPr>
            </a:pPr>
            <a:r>
              <a:t>tCO₂e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E8F0"/>
                </a:solidFill>
              </a:defRPr>
            </a:pPr>
            <a:r>
              <a:rPr dirty="0"/>
              <a:t>Total GHG Emissions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0789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F0AE"/>
                </a:solidFill>
              </a:defRPr>
            </a:pPr>
            <a:r>
              <a:t>▼ 4.07%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005840"/>
            <a:ext cx="2743200" cy="10515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143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239.4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0D8E8"/>
                </a:solidFill>
              </a:defRPr>
            </a:pPr>
            <a:r>
              <a:t>tCO₂e/IDR 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830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E8F0"/>
                </a:solidFill>
              </a:defRPr>
            </a:pPr>
            <a:r>
              <a:t>Revenue Intensity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0789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F0AE"/>
                </a:solidFill>
              </a:defRPr>
            </a:pPr>
            <a:r>
              <a:t>▼ 11.3%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2743200" cy="10515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143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554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0D8E8"/>
                </a:solidFill>
              </a:defRPr>
            </a:pPr>
            <a:r>
              <a:t>score (1-5)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E8F0"/>
                </a:solidFill>
              </a:defRPr>
            </a:pPr>
            <a:r>
              <a:t>PCAF Data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10789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8282"/>
                </a:solidFill>
              </a:defRPr>
            </a:pPr>
            <a:r>
              <a:t>▲ 0.12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005840"/>
            <a:ext cx="2743200" cy="105156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11430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5544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0D8E8"/>
                </a:solidFill>
              </a:defRPr>
            </a:pPr>
            <a:r>
              <a:t>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78308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0E8F0"/>
                </a:solidFill>
              </a:defRPr>
            </a:pPr>
            <a:r>
              <a:t>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107899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9F0AE"/>
                </a:solidFill>
              </a:defRPr>
            </a:pPr>
            <a:r>
              <a:t>Stable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5303520" cy="2743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286000"/>
            <a:ext cx="2926080" cy="2743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869680" y="2286000"/>
            <a:ext cx="301752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3317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3A6B"/>
                </a:solidFill>
              </a:defRPr>
            </a:pPr>
            <a:r>
              <a:t>ESG Scorecard</a:t>
            </a:r>
          </a:p>
          <a:p>
            <a:pPr>
              <a:defRPr sz="900" b="1">
                <a:solidFill>
                  <a:srgbClr val="212121"/>
                </a:solidFill>
              </a:defRPr>
            </a:pPr>
            <a:r>
              <a:t>🟡 Environmental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</a:defRPr>
            </a:pPr>
            <a:r>
              <a:t>    Stable, peers declining faster</a:t>
            </a:r>
          </a:p>
          <a:p>
            <a:pPr>
              <a:defRPr sz="900" b="1">
                <a:solidFill>
                  <a:srgbClr val="212121"/>
                </a:solidFill>
              </a:defRPr>
            </a:pPr>
            <a:r>
              <a:t>🟢 Social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</a:defRPr>
            </a:pPr>
            <a:r>
              <a:t>    Female 42.3%, training 35.2 hrs</a:t>
            </a:r>
          </a:p>
          <a:p>
            <a:pPr>
              <a:defRPr sz="900" b="1">
                <a:solidFill>
                  <a:srgbClr val="212121"/>
                </a:solidFill>
              </a:defRPr>
            </a:pPr>
            <a:r>
              <a:t>🔴 Governance</a:t>
            </a:r>
          </a:p>
          <a:p>
            <a:pPr>
              <a:spcAft>
                <a:spcPts val="200"/>
              </a:spcAft>
              <a:defRPr sz="700">
                <a:solidFill>
                  <a:srgbClr val="666666"/>
                </a:solidFill>
              </a:defRPr>
            </a:pPr>
            <a:r>
              <a:t>    No SBTi, no ESG committee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4114800"/>
            <a:ext cx="3017520" cy="24688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06840" y="42062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8F00"/>
                </a:solidFill>
              </a:defRPr>
            </a:pPr>
            <a:r>
              <a:t>⚡ Board Actions Required</a:t>
            </a:r>
          </a:p>
          <a:p>
            <a:pPr>
              <a:spcBef>
                <a:spcPts val="400"/>
              </a:spcBef>
              <a:defRPr sz="800">
                <a:solidFill>
                  <a:srgbClr val="212121"/>
                </a:solidFill>
              </a:defRPr>
            </a:pPr>
            <a:r>
              <a:t>1. Approve SBTi commitment letter (Q3 2025)</a:t>
            </a:r>
          </a:p>
          <a:p>
            <a:pPr>
              <a:spcBef>
                <a:spcPts val="400"/>
              </a:spcBef>
              <a:defRPr sz="800">
                <a:solidFill>
                  <a:srgbClr val="212121"/>
                </a:solidFill>
              </a:defRPr>
            </a:pPr>
            <a:r>
              <a:t>2. Allocate IDR 15B solar+battery program</a:t>
            </a:r>
          </a:p>
          <a:p>
            <a:pPr>
              <a:spcBef>
                <a:spcPts val="400"/>
              </a:spcBef>
              <a:defRPr sz="800">
                <a:solidFill>
                  <a:srgbClr val="212121"/>
                </a:solidFill>
              </a:defRPr>
            </a:pPr>
            <a:r>
              <a:t>3. Mandate top-20 borrower engagement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AI-Generated | GRI 305 • IFRS S2 • CSRD/ESRS E1 • OJK PSPK | DRAFT |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Environmental Performance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GHG Emissions Analysis — Scope 1, 2, 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200400" cy="2560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97280"/>
            <a:ext cx="4572000" cy="25603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4572000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0" y="3840480"/>
            <a:ext cx="4114800" cy="2560320"/>
          </a:xfrm>
          <a:prstGeom prst="roundRect">
            <a:avLst/>
          </a:prstGeom>
          <a:solidFill>
            <a:srgbClr val="FFF8E1"/>
          </a:solidFill>
          <a:ln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0" y="3977639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8F00"/>
                </a:solidFill>
              </a:defRPr>
            </a:pPr>
            <a:r>
              <a:t>⚠️ KEY INSIGHT</a:t>
            </a:r>
          </a:p>
          <a:p>
            <a:pPr>
              <a:spcBef>
                <a:spcPts val="600"/>
              </a:spcBef>
              <a:defRPr sz="900">
                <a:solidFill>
                  <a:srgbClr val="212121"/>
                </a:solidFill>
              </a:defRPr>
            </a:pPr>
            <a:r>
              <a:t>99.78% of emissions from financed portfolio. Operational reduction alone cannot achieve material impact.</a:t>
            </a:r>
          </a:p>
          <a:p>
            <a:br/>
            <a:r>
              <a:t>📊 Diesel dependency (64.7% of Scope 1) is the primary operational lever. Solar+battery at top 5 sites = -881 tCO₂e/yr.</a:t>
            </a:r>
          </a:p>
          <a:p>
            <a:br/>
            <a:r>
              <a:t>🏦 Peers: BRI -3.2%, DBS -12% (2023 vs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097280"/>
            <a:ext cx="1645920" cy="6858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0" y="114300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47</a:t>
            </a:r>
          </a:p>
          <a:p>
            <a:pPr algn="ctr">
              <a:defRPr sz="800">
                <a:solidFill>
                  <a:srgbClr val="D0D8E8"/>
                </a:solidFill>
              </a:defRPr>
            </a:pPr>
            <a:r>
              <a:t>Facilities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74520"/>
            <a:ext cx="1645920" cy="6858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192024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2.1/4</a:t>
            </a:r>
          </a:p>
          <a:p>
            <a:pPr algn="ctr">
              <a:defRPr sz="800">
                <a:solidFill>
                  <a:srgbClr val="D0D8E8"/>
                </a:solidFill>
              </a:defRPr>
            </a:pPr>
            <a:r>
              <a:t>Data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651760"/>
            <a:ext cx="1645920" cy="6858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2697480"/>
            <a:ext cx="1463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-4.07%</a:t>
            </a:r>
          </a:p>
          <a:p>
            <a:pPr algn="ctr">
              <a:defRPr sz="800">
                <a:solidFill>
                  <a:srgbClr val="D0D8E8"/>
                </a:solidFill>
              </a:defRPr>
            </a:pPr>
            <a:r>
              <a:t>YoY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Social &amp; Governance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Workforce Metrics + ESG Governance Maturity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0" y="1097280"/>
            <a:ext cx="2103120" cy="45720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0" y="11155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 | Environmental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6459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Scope 1: 3,403 tCO₂e (+2.4%)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Scope 2: 44,614 tCO₂e (stable)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Scope 3: 21.98M tCO₂e (-4.2%)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Intensity: 239.4 tCO₂e/IDR Bn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0" y="1097280"/>
            <a:ext cx="2103120" cy="45720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80" y="11155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 |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FTE: 12,847 (+3.1%)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Female: 42.3%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Training: 35.2 hrs/FTE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Turnover: 7.8% (down)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1097280"/>
            <a:ext cx="2103120" cy="45720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66960" y="1115568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 |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64592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❌ No ESG Committee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❌ No SBTi Commitment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⚠️ No Transition Plan</a:t>
            </a:r>
          </a:p>
          <a:p>
            <a:pPr>
              <a:spcBef>
                <a:spcPts val="300"/>
              </a:spcBef>
              <a:defRPr sz="800">
                <a:solidFill>
                  <a:srgbClr val="212121"/>
                </a:solidFill>
              </a:defRPr>
            </a:pPr>
            <a:r>
              <a:t>✅ PCAF Adopted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11612880" cy="2560320"/>
          </a:xfrm>
          <a:prstGeom prst="roundRect">
            <a:avLst/>
          </a:prstGeom>
          <a:solidFill>
            <a:srgbClr val="FCE4EC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62828"/>
                </a:solidFill>
              </a:defRPr>
            </a:pPr>
            <a:r>
              <a:t>🔴 Governance Gaps — Framework Compliance</a:t>
            </a:r>
          </a:p>
          <a:p>
            <a:pPr>
              <a:spcBef>
                <a:spcPts val="300"/>
              </a:spcBef>
              <a:defRPr sz="900">
                <a:solidFill>
                  <a:srgbClr val="212121"/>
                </a:solidFill>
              </a:defRPr>
            </a:pPr>
            <a:r>
              <a:t>  • IFRS S2 Para 5-9: Board climate oversight — NOT ESTABLISHED</a:t>
            </a:r>
          </a:p>
          <a:p>
            <a:pPr>
              <a:spcBef>
                <a:spcPts val="300"/>
              </a:spcBef>
              <a:defRPr sz="900">
                <a:solidFill>
                  <a:srgbClr val="212121"/>
                </a:solidFill>
              </a:defRPr>
            </a:pPr>
            <a:r>
              <a:t>  • ESRS 2 GOV-1: Sustainability governance body — NOT ESTABLISHED</a:t>
            </a:r>
          </a:p>
          <a:p>
            <a:pPr>
              <a:spcBef>
                <a:spcPts val="300"/>
              </a:spcBef>
              <a:defRPr sz="900">
                <a:solidFill>
                  <a:srgbClr val="212121"/>
                </a:solidFill>
              </a:defRPr>
            </a:pPr>
            <a:r>
              <a:t>  • OJK POJK 51: ESG committee + climate policy — PARTIAL (policy only)</a:t>
            </a:r>
          </a:p>
          <a:p>
            <a:pPr>
              <a:spcBef>
                <a:spcPts val="300"/>
              </a:spcBef>
              <a:defRPr sz="900">
                <a:solidFill>
                  <a:srgbClr val="212121"/>
                </a:solidFill>
              </a:defRPr>
            </a:pPr>
            <a:r>
              <a:t>  • SBTi: Science-based targets — NOT COMMITTED (peers BRI/BCA committed)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Roadmap</a:t>
            </a:r>
          </a:p>
          <a:p>
            <a:pPr>
              <a:defRPr sz="1000">
                <a:solidFill>
                  <a:srgbClr val="A8CCE0"/>
                </a:solidFill>
              </a:defRPr>
            </a:pPr>
            <a:r>
              <a:t>Priority Actions &amp;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05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A6B"/>
                </a:solidFill>
              </a:defRPr>
            </a:pPr>
            <a:r>
              <a:t>Q3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280160"/>
            <a:ext cx="1270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97680" y="1005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A6B"/>
                </a:solidFill>
              </a:defRPr>
            </a:pPr>
            <a:r>
              <a:t>Q4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1270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A6B"/>
                </a:solidFill>
              </a:defRPr>
            </a:pPr>
            <a:r>
              <a:t>Q1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1270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1005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A6B"/>
                </a:solidFill>
              </a:defRPr>
            </a:pPr>
            <a:r>
              <a:t>Q2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280160"/>
            <a:ext cx="1270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0" y="10058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B3A6B"/>
                </a:solidFill>
              </a:defRPr>
            </a:pPr>
            <a:r>
              <a:t>Q3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20" y="1280160"/>
            <a:ext cx="12700" cy="50292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2880" y="1463040"/>
            <a:ext cx="1645920" cy="36576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148132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ENVIRON.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926080"/>
            <a:ext cx="1645920" cy="36576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294436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SOCIAL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" y="4389120"/>
            <a:ext cx="1645920" cy="36576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" y="440740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GOVERN.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5486400"/>
            <a:ext cx="1645920" cy="365760"/>
          </a:xfrm>
          <a:prstGeom prst="roundRect">
            <a:avLst/>
          </a:prstGeom>
          <a:solidFill>
            <a:srgbClr val="3D6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55046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1463040"/>
            <a:ext cx="3840480" cy="32004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14813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Solar+Battery Top 5 Sites (-881 tCO₂e)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1920240"/>
            <a:ext cx="5852160" cy="320040"/>
          </a:xfrm>
          <a:prstGeom prst="roundRect">
            <a:avLst/>
          </a:prstGeom>
          <a:solidFill>
            <a:srgbClr val="3D6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1938528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Borrower Engagement Program (Top 20 Emitters)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2926080"/>
            <a:ext cx="1828800" cy="3200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29443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Diversity Target Setting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291840"/>
            <a:ext cx="3840480" cy="320040"/>
          </a:xfrm>
          <a:prstGeom prst="round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33101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Training Program Expansion (40hrs target)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4389120"/>
            <a:ext cx="182880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80" y="440740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SBTi Commitment Letter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4754880"/>
            <a:ext cx="384048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68880" y="47731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ESG Committee Formation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120640"/>
            <a:ext cx="3840480" cy="320040"/>
          </a:xfrm>
          <a:prstGeom prst="round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513892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Transition Plan Development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5486400"/>
            <a:ext cx="1828800" cy="320040"/>
          </a:xfrm>
          <a:prstGeom prst="roundRect">
            <a:avLst/>
          </a:prstGeom>
          <a:solidFill>
            <a:srgbClr val="3D6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68880" y="550468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PCAF Score → 2.5 (Data Improvement)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5852160"/>
            <a:ext cx="3840480" cy="320040"/>
          </a:xfrm>
          <a:prstGeom prst="roundRect">
            <a:avLst/>
          </a:prstGeom>
          <a:solidFill>
            <a:srgbClr val="3D6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80560" y="587044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1">
                <a:solidFill>
                  <a:srgbClr val="FFFFFF"/>
                </a:solidFill>
              </a:defRPr>
            </a:pPr>
            <a:r>
              <a:t>Automated Scope 3 Data Collection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446</Words>
  <Application>Microsoft Office PowerPoint</Application>
  <PresentationFormat>Custom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Raditya Rahardyansyah Rifat</cp:lastModifiedBy>
  <cp:revision>1</cp:revision>
  <dcterms:created xsi:type="dcterms:W3CDTF">2013-01-27T09:14:16Z</dcterms:created>
  <dcterms:modified xsi:type="dcterms:W3CDTF">2026-06-12T07:30:36Z</dcterms:modified>
  <cp:category/>
</cp:coreProperties>
</file>