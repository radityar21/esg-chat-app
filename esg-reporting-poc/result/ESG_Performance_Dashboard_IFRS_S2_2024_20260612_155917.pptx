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IFRS S2: Climate Performance Summary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GENERIC_FI_001  |  FY2024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9144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22024814.173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tCO₂e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Total GHG Emissions (Scope 1+2+3)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914400"/>
            <a:ext cx="201168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239.400139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tCO₂e/IDR Bn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Revenue Intensity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914400"/>
            <a:ext cx="2011680" cy="9144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3.36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score (1-5)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PCAF Data Quality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914400"/>
            <a:ext cx="2011680" cy="9144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960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100.0</a:t>
            </a:r>
          </a:p>
          <a:p>
            <a:pPr>
              <a:defRPr sz="800">
                <a:solidFill>
                  <a:srgbClr val="D0D8E8"/>
                </a:solidFill>
              </a:defRPr>
            </a:pPr>
            <a:r>
              <a:t>% </a:t>
            </a:r>
          </a:p>
          <a:p>
            <a:pPr>
              <a:defRPr sz="800">
                <a:solidFill>
                  <a:srgbClr val="E0E8F0"/>
                </a:solidFill>
              </a:defRPr>
            </a:pPr>
            <a:r>
              <a:t>Financed Emissions Coverage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11680"/>
            <a:ext cx="4572000" cy="2743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0" y="2011680"/>
            <a:ext cx="3840480" cy="1371600"/>
          </a:xfrm>
          <a:prstGeom prst="roundRect">
            <a:avLst/>
          </a:prstGeom>
          <a:solidFill>
            <a:srgbClr val="FFF8E1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03120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8F00"/>
                </a:solidFill>
              </a:defRPr>
            </a:pPr>
            <a:r>
              <a:t>⚡ Key Insight</a:t>
            </a:r>
          </a:p>
          <a:p>
            <a:pPr>
              <a:defRPr sz="900">
                <a:solidFill>
                  <a:srgbClr val="333333"/>
                </a:solidFill>
              </a:defRPr>
            </a:pPr>
            <a:r>
              <a:t>Scope 1 naik 2.36% sementara peers turun 8-12% — diesel over-reliance adalah gap driver utama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Priority Actions &amp; Compliance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IFRS S2: Climate  |  FY2024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5029200" cy="38404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B3A6B"/>
                </a:solidFill>
              </a:defRPr>
            </a:pPr>
            <a:r>
              <a:t>⚡ Priority Actions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1. Establish sector-specific decarbonization targets for Energy - Oil &amp; G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2. Implement PCAF data quality improvement program targeting portfolio-we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3. Conduct climate scenario analysis per IFRS S2 para 22 covering 1.5°C (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4. Develop transition finance product suite (green loans, sustainability-</a:t>
            </a:r>
          </a:p>
          <a:p>
            <a:pPr>
              <a:spcBef>
                <a:spcPts val="400"/>
              </a:spcBef>
              <a:defRPr sz="900">
                <a:solidFill>
                  <a:srgbClr val="333333"/>
                </a:solidFill>
              </a:defRPr>
            </a:pPr>
            <a:r>
              <a:t>5. Establish climate competency development program to restore training 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914400"/>
            <a:ext cx="3383280" cy="3840480"/>
          </a:xfrm>
          <a:prstGeom prst="roundRect">
            <a:avLst/>
          </a:prstGeom>
          <a:solidFill>
            <a:srgbClr val="FCE4EC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0058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IFRS S2: Climate Compliance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Scope 1 &amp; 2 Disclosed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Scope 3 PCAF Disclosed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✅ Intensity Metrics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⚠️ Reduction Targets (Partial)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❌ Transition Plan</a:t>
            </a:r>
          </a:p>
          <a:p>
            <a:pPr>
              <a:spcBef>
                <a:spcPts val="300"/>
              </a:spcBef>
              <a:defRPr sz="900">
                <a:solidFill>
                  <a:srgbClr val="333333"/>
                </a:solidFill>
              </a:defRPr>
            </a:pPr>
            <a:r>
              <a:t>❌ Scenario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