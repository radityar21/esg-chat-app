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66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137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ESG Dashboard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14400" y="457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Tokaicom Mitra Indonesia  |  FY2024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Shape 3"/>
          <p:cNvSpPr/>
          <p:nvPr/>
        </p:nvSpPr>
        <p:spPr>
          <a:xfrm>
            <a:off x="274320" y="777240"/>
            <a:ext cx="2057400" cy="45720"/>
          </a:xfrm>
          <a:prstGeom prst="roundRect">
            <a:avLst>
              <a:gd name="adj" fmla="val 240000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" name="Text 4"/>
          <p:cNvSpPr/>
          <p:nvPr/>
        </p:nvSpPr>
        <p:spPr>
          <a:xfrm>
            <a:off x="384048" y="88696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GHG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84048" y="10332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21976797.3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84048" y="132588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8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tCO₂e  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9184" y="1581912"/>
            <a:ext cx="1947672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8"/>
          <p:cNvSpPr/>
          <p:nvPr/>
        </p:nvSpPr>
        <p:spPr>
          <a:xfrm>
            <a:off x="402336" y="158511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§"Total (Scope 1+2+3)" → col "Emissions" &amp; "YoY Change"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2468880" y="77724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3" name="Shape 10"/>
          <p:cNvSpPr/>
          <p:nvPr/>
        </p:nvSpPr>
        <p:spPr>
          <a:xfrm>
            <a:off x="2468880" y="777240"/>
            <a:ext cx="2057400" cy="45720"/>
          </a:xfrm>
          <a:prstGeom prst="roundRect">
            <a:avLst>
              <a:gd name="adj" fmla="val 240000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4" name="Text 11"/>
          <p:cNvSpPr/>
          <p:nvPr/>
        </p:nvSpPr>
        <p:spPr>
          <a:xfrm>
            <a:off x="2578608" y="88696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Intensity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578608" y="10332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239.400139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578608" y="132588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8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tCO₂e/IDR Bn  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523744" y="1581912"/>
            <a:ext cx="1947672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5"/>
          <p:cNvSpPr/>
          <p:nvPr/>
        </p:nvSpPr>
        <p:spPr>
          <a:xfrm>
            <a:off x="2596896" y="1591056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§1.4 GHG Emissions Intensity → Table 1.4.1 → row "Revenue-Based" → col "Ratio"</a:t>
            </a:r>
            <a:endParaRPr lang="en-US" sz="650" dirty="0"/>
          </a:p>
        </p:txBody>
      </p:sp>
      <p:sp>
        <p:nvSpPr>
          <p:cNvPr id="19" name="Shape 16"/>
          <p:cNvSpPr/>
          <p:nvPr/>
        </p:nvSpPr>
        <p:spPr>
          <a:xfrm>
            <a:off x="4663440" y="77724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0" name="Shape 17"/>
          <p:cNvSpPr/>
          <p:nvPr/>
        </p:nvSpPr>
        <p:spPr>
          <a:xfrm>
            <a:off x="4663440" y="777240"/>
            <a:ext cx="2057400" cy="45720"/>
          </a:xfrm>
          <a:prstGeom prst="roundRect">
            <a:avLst>
              <a:gd name="adj" fmla="val 240000"/>
            </a:avLst>
          </a:prstGeom>
          <a:solidFill>
            <a:srgbClr val="0984E3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1" name="Text 18"/>
          <p:cNvSpPr/>
          <p:nvPr/>
        </p:nvSpPr>
        <p:spPr>
          <a:xfrm>
            <a:off x="4773168" y="88696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PCAF Score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773168" y="10332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3.36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4773168" y="132588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(1-5)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18304" y="1581912"/>
            <a:ext cx="1947672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Text 22"/>
          <p:cNvSpPr/>
          <p:nvPr/>
        </p:nvSpPr>
        <p:spPr>
          <a:xfrm>
            <a:off x="4791456" y="1591056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§1.3 Financed Emissions → Table 1.3.1 → row "Portfolio Weighted" → col "PCAF Score"</a:t>
            </a:r>
            <a:endParaRPr lang="en-US" sz="650" dirty="0"/>
          </a:p>
        </p:txBody>
      </p:sp>
      <p:sp>
        <p:nvSpPr>
          <p:cNvPr id="26" name="Shape 23"/>
          <p:cNvSpPr/>
          <p:nvPr/>
        </p:nvSpPr>
        <p:spPr>
          <a:xfrm>
            <a:off x="6858000" y="77724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7" name="Shape 24"/>
          <p:cNvSpPr/>
          <p:nvPr/>
        </p:nvSpPr>
        <p:spPr>
          <a:xfrm>
            <a:off x="6858000" y="777240"/>
            <a:ext cx="2057400" cy="45720"/>
          </a:xfrm>
          <a:prstGeom prst="roundRect">
            <a:avLst>
              <a:gd name="adj" fmla="val 240000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8" name="Text 25"/>
          <p:cNvSpPr/>
          <p:nvPr/>
        </p:nvSpPr>
        <p:spPr>
          <a:xfrm>
            <a:off x="6967728" y="88696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Coverage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967728" y="10332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69.53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6967728" y="132588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912864" y="1581912"/>
            <a:ext cx="1947672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2" name="Text 29"/>
          <p:cNvSpPr/>
          <p:nvPr/>
        </p:nvSpPr>
        <p:spPr>
          <a:xfrm>
            <a:off x="6986016" y="1591056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 Scope 1 Emissions by Source (2024) → col "% of Total"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274320" y="2011680"/>
            <a:ext cx="42062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5" name="Shape 31"/>
          <p:cNvSpPr/>
          <p:nvPr/>
        </p:nvSpPr>
        <p:spPr>
          <a:xfrm>
            <a:off x="320040" y="3822192"/>
            <a:ext cx="411480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6" name="Text 32"/>
          <p:cNvSpPr/>
          <p:nvPr/>
        </p:nvSpPr>
        <p:spPr>
          <a:xfrm>
            <a:off x="393192" y="3831336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§1.1 Direct GHG—Scope 1 → Tbl 1.1.2 + §1.2 Scope 2 + §1.3 Scope 3 Cat 15 → Tbl 1.3.1</a:t>
            </a:r>
            <a:endParaRPr lang="en-US" sz="650" dirty="0"/>
          </a:p>
        </p:txBody>
      </p:sp>
      <p:sp>
        <p:nvSpPr>
          <p:cNvPr id="37" name="Shape 33"/>
          <p:cNvSpPr/>
          <p:nvPr/>
        </p:nvSpPr>
        <p:spPr>
          <a:xfrm>
            <a:off x="4617720" y="2011680"/>
            <a:ext cx="42062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 dirty="0"/>
          </a:p>
        </p:txBody>
      </p:sp>
      <p:sp>
        <p:nvSpPr>
          <p:cNvPr id="39" name="Shape 34"/>
          <p:cNvSpPr/>
          <p:nvPr/>
        </p:nvSpPr>
        <p:spPr>
          <a:xfrm>
            <a:off x="4663440" y="3822192"/>
            <a:ext cx="411480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0" name="Text 35"/>
          <p:cNvSpPr/>
          <p:nvPr/>
        </p:nvSpPr>
        <p:spPr>
          <a:xfrm>
            <a:off x="4736592" y="3831336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§1.3 Financed Emissions—Scope 3 Cat 15 → Table 1.3.1 → col "Emission Share (%)"</a:t>
            </a:r>
            <a:endParaRPr lang="en-US" sz="650" dirty="0"/>
          </a:p>
        </p:txBody>
      </p:sp>
      <p:sp>
        <p:nvSpPr>
          <p:cNvPr id="41" name="Shape 36"/>
          <p:cNvSpPr/>
          <p:nvPr/>
        </p:nvSpPr>
        <p:spPr>
          <a:xfrm>
            <a:off x="274320" y="4114800"/>
            <a:ext cx="4206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2" name="Text 37"/>
          <p:cNvSpPr/>
          <p:nvPr/>
        </p:nvSpPr>
        <p:spPr>
          <a:xfrm>
            <a:off x="411480" y="4160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ESG Scorecard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411480" y="4370832"/>
            <a:ext cx="1261872" cy="566928"/>
          </a:xfrm>
          <a:prstGeom prst="roundRect">
            <a:avLst>
              <a:gd name="adj" fmla="val 12903"/>
            </a:avLst>
          </a:prstGeom>
          <a:solidFill>
            <a:srgbClr val="FEF9E7"/>
          </a:solidFill>
          <a:ln w="19050">
            <a:solidFill>
              <a:srgbClr val="FDCB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4" name="Shape 39"/>
          <p:cNvSpPr/>
          <p:nvPr/>
        </p:nvSpPr>
        <p:spPr>
          <a:xfrm>
            <a:off x="466344" y="4425696"/>
            <a:ext cx="228600" cy="228600"/>
          </a:xfrm>
          <a:prstGeom prst="ellipse">
            <a:avLst/>
          </a:prstGeom>
          <a:solidFill>
            <a:srgbClr val="FDCB6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5" name="Text 40"/>
          <p:cNvSpPr/>
          <p:nvPr/>
        </p:nvSpPr>
        <p:spPr>
          <a:xfrm>
            <a:off x="466344" y="44256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731520" y="440740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Stable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731520" y="459028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Emissions -4.07% YoY</a:t>
            </a:r>
            <a:endParaRPr lang="en-US" sz="700" dirty="0"/>
          </a:p>
        </p:txBody>
      </p:sp>
      <p:sp>
        <p:nvSpPr>
          <p:cNvPr id="48" name="Shape 43"/>
          <p:cNvSpPr/>
          <p:nvPr/>
        </p:nvSpPr>
        <p:spPr>
          <a:xfrm>
            <a:off x="425196" y="4850001"/>
            <a:ext cx="1225296" cy="283464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9" name="Text 44"/>
          <p:cNvSpPr/>
          <p:nvPr/>
        </p:nvSpPr>
        <p:spPr>
          <a:xfrm>
            <a:off x="522099" y="4906649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§1.1 Direct GHG Emissions—Scope 1 → Table 1.1.2 → col "% Change" (+2.36%)</a:t>
            </a:r>
            <a:endParaRPr lang="en-US" sz="650" dirty="0"/>
          </a:p>
        </p:txBody>
      </p:sp>
      <p:sp>
        <p:nvSpPr>
          <p:cNvPr id="50" name="Shape 45"/>
          <p:cNvSpPr/>
          <p:nvPr/>
        </p:nvSpPr>
        <p:spPr>
          <a:xfrm>
            <a:off x="1783080" y="4370832"/>
            <a:ext cx="1261872" cy="566928"/>
          </a:xfrm>
          <a:prstGeom prst="roundRect">
            <a:avLst>
              <a:gd name="adj" fmla="val 12903"/>
            </a:avLst>
          </a:prstGeom>
          <a:solidFill>
            <a:srgbClr val="E8F8F0"/>
          </a:solidFill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1" name="Shape 46"/>
          <p:cNvSpPr/>
          <p:nvPr/>
        </p:nvSpPr>
        <p:spPr>
          <a:xfrm>
            <a:off x="1837944" y="4425696"/>
            <a:ext cx="228600" cy="228600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2" name="Text 47"/>
          <p:cNvSpPr/>
          <p:nvPr/>
        </p:nvSpPr>
        <p:spPr>
          <a:xfrm>
            <a:off x="1837944" y="44256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900" dirty="0"/>
          </a:p>
        </p:txBody>
      </p:sp>
      <p:sp>
        <p:nvSpPr>
          <p:cNvPr id="53" name="Text 48"/>
          <p:cNvSpPr/>
          <p:nvPr/>
        </p:nvSpPr>
        <p:spPr>
          <a:xfrm>
            <a:off x="2103120" y="440740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Strong</a:t>
            </a:r>
            <a:endParaRPr lang="en-US" sz="900" dirty="0"/>
          </a:p>
        </p:txBody>
      </p:sp>
      <p:sp>
        <p:nvSpPr>
          <p:cNvPr id="54" name="Text 49"/>
          <p:cNvSpPr/>
          <p:nvPr/>
        </p:nvSpPr>
        <p:spPr>
          <a:xfrm>
            <a:off x="2103120" y="459028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Female 42.3%, Training 49.3h</a:t>
            </a:r>
            <a:endParaRPr lang="en-US" sz="700" dirty="0"/>
          </a:p>
        </p:txBody>
      </p:sp>
      <p:sp>
        <p:nvSpPr>
          <p:cNvPr id="55" name="Shape 50"/>
          <p:cNvSpPr/>
          <p:nvPr/>
        </p:nvSpPr>
        <p:spPr>
          <a:xfrm>
            <a:off x="1801368" y="4824711"/>
            <a:ext cx="1225296" cy="32004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6" name="Text 51"/>
          <p:cNvSpPr/>
          <p:nvPr/>
        </p:nvSpPr>
        <p:spPr>
          <a:xfrm>
            <a:off x="1874520" y="4907007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§2.1.4 Diversity &amp; Equal Opportunity → "42.32%" + §2.1.3 Training → "49.3 hrs"</a:t>
            </a:r>
            <a:endParaRPr lang="en-US" sz="650" dirty="0"/>
          </a:p>
        </p:txBody>
      </p:sp>
      <p:sp>
        <p:nvSpPr>
          <p:cNvPr id="57" name="Shape 52"/>
          <p:cNvSpPr/>
          <p:nvPr/>
        </p:nvSpPr>
        <p:spPr>
          <a:xfrm>
            <a:off x="3154680" y="4370832"/>
            <a:ext cx="1261872" cy="566928"/>
          </a:xfrm>
          <a:prstGeom prst="roundRect">
            <a:avLst>
              <a:gd name="adj" fmla="val 12903"/>
            </a:avLst>
          </a:prstGeom>
          <a:solidFill>
            <a:srgbClr val="FDEDEC"/>
          </a:solidFill>
          <a:ln w="1905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8" name="Shape 53"/>
          <p:cNvSpPr/>
          <p:nvPr/>
        </p:nvSpPr>
        <p:spPr>
          <a:xfrm>
            <a:off x="3209544" y="4425696"/>
            <a:ext cx="228600" cy="228600"/>
          </a:xfrm>
          <a:prstGeom prst="ellipse">
            <a:avLst/>
          </a:prstGeom>
          <a:solidFill>
            <a:srgbClr val="E170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9" name="Text 54"/>
          <p:cNvSpPr/>
          <p:nvPr/>
        </p:nvSpPr>
        <p:spPr>
          <a:xfrm>
            <a:off x="3209544" y="44256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</a:t>
            </a:r>
            <a:endParaRPr lang="en-US" sz="900" dirty="0"/>
          </a:p>
        </p:txBody>
      </p:sp>
      <p:sp>
        <p:nvSpPr>
          <p:cNvPr id="60" name="Text 55"/>
          <p:cNvSpPr/>
          <p:nvPr/>
        </p:nvSpPr>
        <p:spPr>
          <a:xfrm>
            <a:off x="3474720" y="440740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Gap</a:t>
            </a:r>
            <a:endParaRPr lang="en-US" sz="900" dirty="0"/>
          </a:p>
        </p:txBody>
      </p:sp>
      <p:sp>
        <p:nvSpPr>
          <p:cNvPr id="61" name="Text 56"/>
          <p:cNvSpPr/>
          <p:nvPr/>
        </p:nvSpPr>
        <p:spPr>
          <a:xfrm>
            <a:off x="3474720" y="459028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IFRS/ESRS not established</a:t>
            </a:r>
            <a:endParaRPr lang="en-US" sz="700" dirty="0"/>
          </a:p>
        </p:txBody>
      </p:sp>
      <p:sp>
        <p:nvSpPr>
          <p:cNvPr id="62" name="Shape 57"/>
          <p:cNvSpPr/>
          <p:nvPr/>
        </p:nvSpPr>
        <p:spPr>
          <a:xfrm>
            <a:off x="3172968" y="4806895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3" name="Text 58"/>
          <p:cNvSpPr/>
          <p:nvPr/>
        </p:nvSpPr>
        <p:spPr>
          <a:xfrm>
            <a:off x="3246120" y="4889191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§3.1 Climate Governance &amp; ESG Oversight → Governance Gap Analysis → para 1</a:t>
            </a:r>
            <a:endParaRPr lang="en-US" sz="650" dirty="0"/>
          </a:p>
        </p:txBody>
      </p:sp>
      <p:sp>
        <p:nvSpPr>
          <p:cNvPr id="64" name="Shape 59"/>
          <p:cNvSpPr/>
          <p:nvPr/>
        </p:nvSpPr>
        <p:spPr>
          <a:xfrm>
            <a:off x="4617720" y="4114800"/>
            <a:ext cx="4206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5" name="Shape 60"/>
          <p:cNvSpPr/>
          <p:nvPr/>
        </p:nvSpPr>
        <p:spPr>
          <a:xfrm>
            <a:off x="4617720" y="4114800"/>
            <a:ext cx="64008" cy="914400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6" name="Text 61"/>
          <p:cNvSpPr/>
          <p:nvPr/>
        </p:nvSpPr>
        <p:spPr>
          <a:xfrm>
            <a:off x="4800600" y="4160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5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Board Actions</a:t>
            </a:r>
            <a:endParaRPr lang="en-US" sz="1000" dirty="0"/>
          </a:p>
        </p:txBody>
      </p:sp>
      <p:sp>
        <p:nvSpPr>
          <p:cNvPr id="67" name="Shape 62"/>
          <p:cNvSpPr/>
          <p:nvPr/>
        </p:nvSpPr>
        <p:spPr>
          <a:xfrm>
            <a:off x="4800600" y="4398264"/>
            <a:ext cx="128016" cy="12801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8" name="Text 63"/>
          <p:cNvSpPr/>
          <p:nvPr/>
        </p:nvSpPr>
        <p:spPr>
          <a:xfrm>
            <a:off x="4800600" y="439826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700" dirty="0"/>
          </a:p>
        </p:txBody>
      </p:sp>
      <p:sp>
        <p:nvSpPr>
          <p:cNvPr id="69" name="Text 64"/>
          <p:cNvSpPr/>
          <p:nvPr/>
        </p:nvSpPr>
        <p:spPr>
          <a:xfrm>
            <a:off x="4983480" y="4389120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Establish sector-specific financed emission reduction target</a:t>
            </a:r>
            <a:endParaRPr lang="en-US" sz="800" dirty="0"/>
          </a:p>
        </p:txBody>
      </p:sp>
      <p:sp>
        <p:nvSpPr>
          <p:cNvPr id="70" name="Shape 65"/>
          <p:cNvSpPr/>
          <p:nvPr/>
        </p:nvSpPr>
        <p:spPr>
          <a:xfrm>
            <a:off x="4800600" y="4562856"/>
            <a:ext cx="128016" cy="12801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1" name="Text 66"/>
          <p:cNvSpPr/>
          <p:nvPr/>
        </p:nvSpPr>
        <p:spPr>
          <a:xfrm>
            <a:off x="4800600" y="4562856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700" dirty="0"/>
          </a:p>
        </p:txBody>
      </p:sp>
      <p:sp>
        <p:nvSpPr>
          <p:cNvPr id="72" name="Text 67"/>
          <p:cNvSpPr/>
          <p:nvPr/>
        </p:nvSpPr>
        <p:spPr>
          <a:xfrm>
            <a:off x="4983480" y="4553712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Upgrade PCAF data quality score from 3.36 to ≤3.0 through di</a:t>
            </a:r>
            <a:endParaRPr lang="en-US" sz="800" dirty="0"/>
          </a:p>
        </p:txBody>
      </p:sp>
      <p:sp>
        <p:nvSpPr>
          <p:cNvPr id="73" name="Shape 68"/>
          <p:cNvSpPr/>
          <p:nvPr/>
        </p:nvSpPr>
        <p:spPr>
          <a:xfrm>
            <a:off x="4800600" y="4727448"/>
            <a:ext cx="128016" cy="12801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4" name="Text 69"/>
          <p:cNvSpPr/>
          <p:nvPr/>
        </p:nvSpPr>
        <p:spPr>
          <a:xfrm>
            <a:off x="4800600" y="4727448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700" dirty="0"/>
          </a:p>
        </p:txBody>
      </p:sp>
      <p:sp>
        <p:nvSpPr>
          <p:cNvPr id="75" name="Text 70"/>
          <p:cNvSpPr/>
          <p:nvPr/>
        </p:nvSpPr>
        <p:spPr>
          <a:xfrm>
            <a:off x="4983480" y="4718304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 limited assurance for Scope 1, 2, and Scope 3 Cate</a:t>
            </a:r>
            <a:endParaRPr lang="en-US" sz="800" dirty="0"/>
          </a:p>
        </p:txBody>
      </p:sp>
      <p:sp>
        <p:nvSpPr>
          <p:cNvPr id="76" name="Shape 71"/>
          <p:cNvSpPr/>
          <p:nvPr/>
        </p:nvSpPr>
        <p:spPr>
          <a:xfrm>
            <a:off x="4800600" y="4917576"/>
            <a:ext cx="384048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7" name="Text 72"/>
          <p:cNvSpPr/>
          <p:nvPr/>
        </p:nvSpPr>
        <p:spPr>
          <a:xfrm>
            <a:off x="4873752" y="4926720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§1.5 Emission Reduction Initiatives → Priority Actions → items 1-3 text + timeline</a:t>
            </a:r>
            <a:endParaRPr lang="en-US" sz="650" dirty="0"/>
          </a:p>
        </p:txBody>
      </p:sp>
      <p:pic>
        <p:nvPicPr>
          <p:cNvPr id="78" name="図 7">
            <a:extLst>
              <a:ext uri="{FF2B5EF4-FFF2-40B4-BE49-F238E27FC236}">
                <a16:creationId xmlns:a16="http://schemas.microsoft.com/office/drawing/2014/main" id="{C35FF680-9569-3A2F-7C0F-730D668A492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44" y="172080"/>
            <a:ext cx="746399" cy="468000"/>
          </a:xfrm>
          <a:prstGeom prst="rect">
            <a:avLst/>
          </a:prstGeom>
        </p:spPr>
      </p:pic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029968"/>
            <a:ext cx="3076303" cy="1783080"/>
          </a:xfrm>
          <a:prstGeom prst="rect">
            <a:avLst/>
          </a:prstGeom>
        </p:spPr>
      </p:pic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7334" y="2029968"/>
            <a:ext cx="2493819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137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Environmental Deep Dive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14400" y="4754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Financed Emissions &amp; Operational Footprint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274320" y="666206"/>
            <a:ext cx="4206240" cy="235131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Shape 3"/>
          <p:cNvSpPr/>
          <p:nvPr/>
        </p:nvSpPr>
        <p:spPr>
          <a:xfrm>
            <a:off x="320040" y="2788920"/>
            <a:ext cx="411480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4"/>
          <p:cNvSpPr/>
          <p:nvPr/>
        </p:nvSpPr>
        <p:spPr>
          <a:xfrm>
            <a:off x="393192" y="2798064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§1.1 Direct GHG Emissions—Scope 1 → Table 1.1.1 → col "Emissions" &amp; "% of Scope 1"</a:t>
            </a:r>
            <a:endParaRPr lang="en-US" sz="650" dirty="0"/>
          </a:p>
        </p:txBody>
      </p:sp>
      <p:sp>
        <p:nvSpPr>
          <p:cNvPr id="9" name="Shape 5"/>
          <p:cNvSpPr/>
          <p:nvPr/>
        </p:nvSpPr>
        <p:spPr>
          <a:xfrm>
            <a:off x="4617720" y="622912"/>
            <a:ext cx="4206240" cy="2394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Shape 6"/>
          <p:cNvSpPr/>
          <p:nvPr/>
        </p:nvSpPr>
        <p:spPr>
          <a:xfrm>
            <a:off x="4663440" y="2788920"/>
            <a:ext cx="411480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7"/>
          <p:cNvSpPr/>
          <p:nvPr/>
        </p:nvSpPr>
        <p:spPr>
          <a:xfrm>
            <a:off x="4736592" y="2798064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§1.3 Financed Emissions—Scope 3 Cat 15 → Table 1.3.1 → col "Gross Emissions"</a:t>
            </a:r>
            <a:endParaRPr lang="en-US" sz="650" dirty="0"/>
          </a:p>
        </p:txBody>
      </p:sp>
      <p:sp>
        <p:nvSpPr>
          <p:cNvPr id="13" name="Shape 8"/>
          <p:cNvSpPr/>
          <p:nvPr/>
        </p:nvSpPr>
        <p:spPr>
          <a:xfrm>
            <a:off x="274320" y="3075099"/>
            <a:ext cx="4206240" cy="1980106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Shape 9"/>
          <p:cNvSpPr/>
          <p:nvPr/>
        </p:nvSpPr>
        <p:spPr>
          <a:xfrm>
            <a:off x="320040" y="4754880"/>
            <a:ext cx="411480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0"/>
          <p:cNvSpPr/>
          <p:nvPr/>
        </p:nvSpPr>
        <p:spPr>
          <a:xfrm>
            <a:off x="393192" y="4764024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§1.4 GHG Emissions Intensity → Table 1.4.1 col "Ratio" + Table 1.4.2 col "2024" &amp; "2023"</a:t>
            </a:r>
            <a:endParaRPr lang="en-US" sz="650" dirty="0"/>
          </a:p>
        </p:txBody>
      </p:sp>
      <p:sp>
        <p:nvSpPr>
          <p:cNvPr id="17" name="Shape 11"/>
          <p:cNvSpPr/>
          <p:nvPr/>
        </p:nvSpPr>
        <p:spPr>
          <a:xfrm>
            <a:off x="4617720" y="3127248"/>
            <a:ext cx="4206240" cy="1874520"/>
          </a:xfrm>
          <a:prstGeom prst="roundRect">
            <a:avLst>
              <a:gd name="adj" fmla="val 5854"/>
            </a:avLst>
          </a:prstGeom>
          <a:solidFill>
            <a:srgbClr val="F3F0FF"/>
          </a:solidFill>
          <a:ln w="19050">
            <a:solidFill>
              <a:srgbClr val="6C5CE7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8" name="Shape 12"/>
          <p:cNvSpPr/>
          <p:nvPr/>
        </p:nvSpPr>
        <p:spPr>
          <a:xfrm>
            <a:off x="4617720" y="3127248"/>
            <a:ext cx="4206240" cy="54864"/>
          </a:xfrm>
          <a:prstGeom prst="roundRect">
            <a:avLst>
              <a:gd name="adj" fmla="val 200000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9" name="Shape 13"/>
          <p:cNvSpPr/>
          <p:nvPr/>
        </p:nvSpPr>
        <p:spPr>
          <a:xfrm>
            <a:off x="4754880" y="3264408"/>
            <a:ext cx="274320" cy="27432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0" name="Text 14"/>
          <p:cNvSpPr/>
          <p:nvPr/>
        </p:nvSpPr>
        <p:spPr>
          <a:xfrm>
            <a:off x="4754880" y="3264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⚡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102352" y="32826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754880" y="358444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99.78% of total emissions from financed activities (Scope 3 Cat 15). Top 3 sectors = 85.93% of financed emissions despite only 20.70% of portfolio.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754880" y="4041648"/>
            <a:ext cx="388620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18"/>
          <p:cNvSpPr/>
          <p:nvPr/>
        </p:nvSpPr>
        <p:spPr>
          <a:xfrm>
            <a:off x="4828032" y="4050792"/>
            <a:ext cx="3739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§1.3 Financed Emissions—Scope 3 Cat 15 → para 2 "constitute 99.78%" + para 4 "85.93%"</a:t>
            </a:r>
            <a:endParaRPr lang="en-US" sz="650" dirty="0"/>
          </a:p>
        </p:txBody>
      </p:sp>
      <p:sp>
        <p:nvSpPr>
          <p:cNvPr id="25" name="Shape 19"/>
          <p:cNvSpPr/>
          <p:nvPr/>
        </p:nvSpPr>
        <p:spPr>
          <a:xfrm>
            <a:off x="4754880" y="4297680"/>
            <a:ext cx="1261872" cy="566928"/>
          </a:xfrm>
          <a:prstGeom prst="roundRect">
            <a:avLst>
              <a:gd name="adj" fmla="val 12903"/>
            </a:avLst>
          </a:prstGeom>
          <a:solidFill>
            <a:srgbClr val="EDF5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6" name="Text 20"/>
          <p:cNvSpPr/>
          <p:nvPr/>
        </p:nvSpPr>
        <p:spPr>
          <a:xfrm>
            <a:off x="4754880" y="4325112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5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754880" y="4553712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Facilities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4791456" y="4700016"/>
            <a:ext cx="1188720" cy="22860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Text 23"/>
          <p:cNvSpPr/>
          <p:nvPr/>
        </p:nvSpPr>
        <p:spPr>
          <a:xfrm>
            <a:off x="4864608" y="4732912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§1.1 Direct GHG—Scope 1 → Table 1.1.3 → row count</a:t>
            </a:r>
            <a:endParaRPr lang="en-US" sz="650" dirty="0"/>
          </a:p>
        </p:txBody>
      </p:sp>
      <p:sp>
        <p:nvSpPr>
          <p:cNvPr id="30" name="Shape 24"/>
          <p:cNvSpPr/>
          <p:nvPr/>
        </p:nvSpPr>
        <p:spPr>
          <a:xfrm>
            <a:off x="6126480" y="4297680"/>
            <a:ext cx="1261872" cy="566928"/>
          </a:xfrm>
          <a:prstGeom prst="roundRect">
            <a:avLst>
              <a:gd name="adj" fmla="val 12903"/>
            </a:avLst>
          </a:prstGeom>
          <a:solidFill>
            <a:srgbClr val="EDF5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1" name="Text 25"/>
          <p:cNvSpPr/>
          <p:nvPr/>
        </p:nvSpPr>
        <p:spPr>
          <a:xfrm>
            <a:off x="6126480" y="4325112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5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3.36/5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6126480" y="4553712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PCAF Score</a:t>
            </a:r>
            <a:endParaRPr lang="en-US" sz="800" dirty="0"/>
          </a:p>
        </p:txBody>
      </p:sp>
      <p:sp>
        <p:nvSpPr>
          <p:cNvPr id="33" name="Shape 27"/>
          <p:cNvSpPr/>
          <p:nvPr/>
        </p:nvSpPr>
        <p:spPr>
          <a:xfrm>
            <a:off x="6163056" y="471177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4" name="Text 28"/>
          <p:cNvSpPr/>
          <p:nvPr/>
        </p:nvSpPr>
        <p:spPr>
          <a:xfrm>
            <a:off x="6242146" y="4792286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§1.3 Financed Emissions—Scope 3 Cat 15 → para "PCAF score of 3.36"</a:t>
            </a:r>
            <a:endParaRPr lang="en-US" sz="650" dirty="0"/>
          </a:p>
        </p:txBody>
      </p:sp>
      <p:sp>
        <p:nvSpPr>
          <p:cNvPr id="35" name="Shape 29"/>
          <p:cNvSpPr/>
          <p:nvPr/>
        </p:nvSpPr>
        <p:spPr>
          <a:xfrm>
            <a:off x="7498080" y="4297680"/>
            <a:ext cx="1261872" cy="566928"/>
          </a:xfrm>
          <a:prstGeom prst="roundRect">
            <a:avLst>
              <a:gd name="adj" fmla="val 12903"/>
            </a:avLst>
          </a:prstGeom>
          <a:solidFill>
            <a:srgbClr val="EDF5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6" name="Text 30"/>
          <p:cNvSpPr/>
          <p:nvPr/>
        </p:nvSpPr>
        <p:spPr>
          <a:xfrm>
            <a:off x="7498080" y="4325112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5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-4.07%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7498080" y="4553712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YoY Change</a:t>
            </a:r>
            <a:endParaRPr lang="en-US" sz="800" dirty="0"/>
          </a:p>
        </p:txBody>
      </p:sp>
      <p:sp>
        <p:nvSpPr>
          <p:cNvPr id="38" name="Shape 32"/>
          <p:cNvSpPr/>
          <p:nvPr/>
        </p:nvSpPr>
        <p:spPr>
          <a:xfrm>
            <a:off x="7534656" y="472507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9" name="Text 33"/>
          <p:cNvSpPr/>
          <p:nvPr/>
        </p:nvSpPr>
        <p:spPr>
          <a:xfrm>
            <a:off x="7607808" y="4798224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§1.3 Financed Emissions—Scope 3 Cat 15 → Table 1.3.1 → col "YoY"</a:t>
            </a:r>
            <a:endParaRPr lang="en-US" sz="650" dirty="0"/>
          </a:p>
        </p:txBody>
      </p:sp>
      <p:pic>
        <p:nvPicPr>
          <p:cNvPr id="40" name="図 7">
            <a:extLst>
              <a:ext uri="{FF2B5EF4-FFF2-40B4-BE49-F238E27FC236}">
                <a16:creationId xmlns:a16="http://schemas.microsoft.com/office/drawing/2014/main" id="{62F2591E-1A7C-9E7B-1068-A19A6480FE4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44" y="172080"/>
            <a:ext cx="746399" cy="4680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704088"/>
            <a:ext cx="2731325" cy="20574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666206"/>
            <a:ext cx="3414156" cy="2095282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330" y="3108839"/>
            <a:ext cx="3319153" cy="16903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137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Social &amp; Governance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14400" y="4754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 Performance &amp; Compliance Gaps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2788920" cy="420624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pic>
        <p:nvPicPr>
          <p:cNvPr id="6" name="Image 1" descr="artifacts/chart_so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22960"/>
            <a:ext cx="2697480" cy="2606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480" y="34747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Social Pillar Score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457200" y="3703320"/>
            <a:ext cx="2377440" cy="265176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5"/>
          <p:cNvSpPr/>
          <p:nvPr/>
        </p:nvSpPr>
        <p:spPr>
          <a:xfrm>
            <a:off x="530352" y="374809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§2.1.1 Workforce + §2.1.2 Employment + §2.1.3 Training + §2.1.4 Diversity</a:t>
            </a:r>
            <a:endParaRPr lang="en-US" sz="650" dirty="0"/>
          </a:p>
        </p:txBody>
      </p:sp>
      <p:sp>
        <p:nvSpPr>
          <p:cNvPr id="10" name="Shape 6"/>
          <p:cNvSpPr/>
          <p:nvPr/>
        </p:nvSpPr>
        <p:spPr>
          <a:xfrm>
            <a:off x="3246120" y="777240"/>
            <a:ext cx="2560320" cy="4206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Text 7"/>
          <p:cNvSpPr/>
          <p:nvPr/>
        </p:nvSpPr>
        <p:spPr>
          <a:xfrm>
            <a:off x="3383280" y="8869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Social Metrics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355848" y="123444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F8F9FA"/>
          </a:solidFill>
          <a:ln w="1016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3" name="Text 9"/>
          <p:cNvSpPr/>
          <p:nvPr/>
        </p:nvSpPr>
        <p:spPr>
          <a:xfrm>
            <a:off x="3474720" y="1325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C5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24,997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474720" y="17099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FTE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410712" y="1984248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2"/>
          <p:cNvSpPr/>
          <p:nvPr/>
        </p:nvSpPr>
        <p:spPr>
          <a:xfrm>
            <a:off x="3483864" y="1993392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§2.1.1 Workforce Overview (GRI 2-7) → para 1 → "24,997 FTE"</a:t>
            </a:r>
            <a:endParaRPr lang="en-US" sz="650" dirty="0"/>
          </a:p>
        </p:txBody>
      </p:sp>
      <p:sp>
        <p:nvSpPr>
          <p:cNvPr id="17" name="Shape 13"/>
          <p:cNvSpPr/>
          <p:nvPr/>
        </p:nvSpPr>
        <p:spPr>
          <a:xfrm>
            <a:off x="3355848" y="246888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F8F9FA"/>
          </a:solidFill>
          <a:ln w="1016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8" name="Text 14"/>
          <p:cNvSpPr/>
          <p:nvPr/>
        </p:nvSpPr>
        <p:spPr>
          <a:xfrm>
            <a:off x="3474720" y="2560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C5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42.32%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3474720" y="29443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Female %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410712" y="3218688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7"/>
          <p:cNvSpPr/>
          <p:nvPr/>
        </p:nvSpPr>
        <p:spPr>
          <a:xfrm>
            <a:off x="3483864" y="3227832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§2.1.4 Diversity &amp; Equal Opportunity (GRI 405-1) → para 1 → "42.32%"</a:t>
            </a:r>
            <a:endParaRPr lang="en-US" sz="650" dirty="0"/>
          </a:p>
        </p:txBody>
      </p:sp>
      <p:sp>
        <p:nvSpPr>
          <p:cNvPr id="22" name="Shape 18"/>
          <p:cNvSpPr/>
          <p:nvPr/>
        </p:nvSpPr>
        <p:spPr>
          <a:xfrm>
            <a:off x="3355848" y="370332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F8F9FA"/>
          </a:solidFill>
          <a:ln w="1016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3" name="Text 19"/>
          <p:cNvSpPr/>
          <p:nvPr/>
        </p:nvSpPr>
        <p:spPr>
          <a:xfrm>
            <a:off x="3474720" y="3794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C5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49.3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3474720" y="4178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Hrs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3410712" y="4453128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Text 22"/>
          <p:cNvSpPr/>
          <p:nvPr/>
        </p:nvSpPr>
        <p:spPr>
          <a:xfrm>
            <a:off x="3483864" y="4462272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§2.1.3 Training &amp; Education (GRI 404-1) → para 1 → "49.3 hrs per FTE"</a:t>
            </a:r>
            <a:endParaRPr lang="en-US" sz="650" dirty="0"/>
          </a:p>
        </p:txBody>
      </p:sp>
      <p:sp>
        <p:nvSpPr>
          <p:cNvPr id="27" name="Shape 23"/>
          <p:cNvSpPr/>
          <p:nvPr/>
        </p:nvSpPr>
        <p:spPr>
          <a:xfrm>
            <a:off x="5989320" y="777240"/>
            <a:ext cx="2971800" cy="420624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8" name="Shape 24"/>
          <p:cNvSpPr/>
          <p:nvPr/>
        </p:nvSpPr>
        <p:spPr>
          <a:xfrm>
            <a:off x="5989320" y="777240"/>
            <a:ext cx="2971800" cy="54864"/>
          </a:xfrm>
          <a:prstGeom prst="roundRect">
            <a:avLst>
              <a:gd name="adj" fmla="val 200000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9" name="Text 25"/>
          <p:cNvSpPr/>
          <p:nvPr/>
        </p:nvSpPr>
        <p:spPr>
          <a:xfrm>
            <a:off x="6126480" y="914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Gaps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099048" y="132588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DEDEC"/>
          </a:solidFill>
          <a:ln w="15240">
            <a:solidFill>
              <a:srgbClr val="E17055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1" name="Shape 27"/>
          <p:cNvSpPr/>
          <p:nvPr/>
        </p:nvSpPr>
        <p:spPr>
          <a:xfrm>
            <a:off x="6099048" y="1325880"/>
            <a:ext cx="64008" cy="1005840"/>
          </a:xfrm>
          <a:prstGeom prst="roundRect">
            <a:avLst>
              <a:gd name="adj" fmla="val 142857"/>
            </a:avLst>
          </a:prstGeom>
          <a:solidFill>
            <a:srgbClr val="E170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2" name="Shape 28"/>
          <p:cNvSpPr/>
          <p:nvPr/>
        </p:nvSpPr>
        <p:spPr>
          <a:xfrm>
            <a:off x="6263640" y="14356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170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3" name="Text 29"/>
          <p:cNvSpPr/>
          <p:nvPr/>
        </p:nvSpPr>
        <p:spPr>
          <a:xfrm>
            <a:off x="6263640" y="1435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✖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6629400" y="1435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IFRS S2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6629400" y="1764792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E170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6" name="Text 32"/>
          <p:cNvSpPr/>
          <p:nvPr/>
        </p:nvSpPr>
        <p:spPr>
          <a:xfrm>
            <a:off x="6629400" y="17647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 (6 gaps)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6217920" y="2075688"/>
            <a:ext cx="242316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8" name="Text 34"/>
          <p:cNvSpPr/>
          <p:nvPr/>
        </p:nvSpPr>
        <p:spPr>
          <a:xfrm>
            <a:off x="6291072" y="2084832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§3.1 Climate Governance → Framework Requirements Not Met → IFRS S2 Para 5-7</a:t>
            </a:r>
            <a:endParaRPr lang="en-US" sz="650" dirty="0"/>
          </a:p>
        </p:txBody>
      </p:sp>
      <p:sp>
        <p:nvSpPr>
          <p:cNvPr id="39" name="Shape 35"/>
          <p:cNvSpPr/>
          <p:nvPr/>
        </p:nvSpPr>
        <p:spPr>
          <a:xfrm>
            <a:off x="6099048" y="251460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DEDEC"/>
          </a:solidFill>
          <a:ln w="15240">
            <a:solidFill>
              <a:srgbClr val="E17055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0" name="Shape 36"/>
          <p:cNvSpPr/>
          <p:nvPr/>
        </p:nvSpPr>
        <p:spPr>
          <a:xfrm>
            <a:off x="6099048" y="2514600"/>
            <a:ext cx="64008" cy="1005840"/>
          </a:xfrm>
          <a:prstGeom prst="roundRect">
            <a:avLst>
              <a:gd name="adj" fmla="val 142857"/>
            </a:avLst>
          </a:prstGeom>
          <a:solidFill>
            <a:srgbClr val="E170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1" name="Shape 37"/>
          <p:cNvSpPr/>
          <p:nvPr/>
        </p:nvSpPr>
        <p:spPr>
          <a:xfrm>
            <a:off x="6263640" y="262432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170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2" name="Text 38"/>
          <p:cNvSpPr/>
          <p:nvPr/>
        </p:nvSpPr>
        <p:spPr>
          <a:xfrm>
            <a:off x="6263640" y="2624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✖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6629400" y="26243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ESRS E1</a:t>
            </a:r>
            <a:endParaRPr lang="en-US" sz="1200" dirty="0"/>
          </a:p>
        </p:txBody>
      </p:sp>
      <p:sp>
        <p:nvSpPr>
          <p:cNvPr id="44" name="Shape 40"/>
          <p:cNvSpPr/>
          <p:nvPr/>
        </p:nvSpPr>
        <p:spPr>
          <a:xfrm>
            <a:off x="6629400" y="2953512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E170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5" name="Text 41"/>
          <p:cNvSpPr/>
          <p:nvPr/>
        </p:nvSpPr>
        <p:spPr>
          <a:xfrm>
            <a:off x="6629400" y="295351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 (6 gaps)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6217920" y="3264408"/>
            <a:ext cx="242316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7" name="Text 43"/>
          <p:cNvSpPr/>
          <p:nvPr/>
        </p:nvSpPr>
        <p:spPr>
          <a:xfrm>
            <a:off x="6291072" y="3273552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§3.1 Climate Governance → Framework Requirements Not Met → ESRS 2 GOV-3</a:t>
            </a:r>
            <a:endParaRPr lang="en-US" sz="650" dirty="0"/>
          </a:p>
        </p:txBody>
      </p:sp>
      <p:sp>
        <p:nvSpPr>
          <p:cNvPr id="48" name="Shape 44"/>
          <p:cNvSpPr/>
          <p:nvPr/>
        </p:nvSpPr>
        <p:spPr>
          <a:xfrm>
            <a:off x="6099048" y="370332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EF9E7"/>
          </a:solidFill>
          <a:ln w="15240">
            <a:solidFill>
              <a:srgbClr val="FDCB6E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9" name="Shape 45"/>
          <p:cNvSpPr/>
          <p:nvPr/>
        </p:nvSpPr>
        <p:spPr>
          <a:xfrm>
            <a:off x="6099048" y="3703320"/>
            <a:ext cx="64008" cy="1005840"/>
          </a:xfrm>
          <a:prstGeom prst="roundRect">
            <a:avLst>
              <a:gd name="adj" fmla="val 142857"/>
            </a:avLst>
          </a:prstGeom>
          <a:solidFill>
            <a:srgbClr val="FDCB6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0" name="Shape 46"/>
          <p:cNvSpPr/>
          <p:nvPr/>
        </p:nvSpPr>
        <p:spPr>
          <a:xfrm>
            <a:off x="6263640" y="38130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DCB6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1" name="Text 47"/>
          <p:cNvSpPr/>
          <p:nvPr/>
        </p:nvSpPr>
        <p:spPr>
          <a:xfrm>
            <a:off x="6263640" y="3813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▲</a:t>
            </a:r>
            <a:endParaRPr lang="en-US" sz="1100" dirty="0"/>
          </a:p>
        </p:txBody>
      </p:sp>
      <p:sp>
        <p:nvSpPr>
          <p:cNvPr id="52" name="Text 48"/>
          <p:cNvSpPr/>
          <p:nvPr/>
        </p:nvSpPr>
        <p:spPr>
          <a:xfrm>
            <a:off x="6629400" y="3813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OJK PSPK</a:t>
            </a:r>
            <a:endParaRPr lang="en-US" sz="1200" dirty="0"/>
          </a:p>
        </p:txBody>
      </p:sp>
      <p:sp>
        <p:nvSpPr>
          <p:cNvPr id="53" name="Shape 49"/>
          <p:cNvSpPr/>
          <p:nvPr/>
        </p:nvSpPr>
        <p:spPr>
          <a:xfrm>
            <a:off x="6629400" y="4142232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FDCB6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4" name="Text 50"/>
          <p:cNvSpPr/>
          <p:nvPr/>
        </p:nvSpPr>
        <p:spPr>
          <a:xfrm>
            <a:off x="6629400" y="41422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 (3 gaps)</a:t>
            </a:r>
            <a:endParaRPr lang="en-US" sz="850" dirty="0"/>
          </a:p>
        </p:txBody>
      </p:sp>
      <p:sp>
        <p:nvSpPr>
          <p:cNvPr id="55" name="Shape 51"/>
          <p:cNvSpPr/>
          <p:nvPr/>
        </p:nvSpPr>
        <p:spPr>
          <a:xfrm>
            <a:off x="6217920" y="4453128"/>
            <a:ext cx="242316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6" name="Text 52"/>
          <p:cNvSpPr/>
          <p:nvPr/>
        </p:nvSpPr>
        <p:spPr>
          <a:xfrm>
            <a:off x="6291072" y="4462272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§3.1 Climate Governance → Framework Requirements Not Met → OJK POJK 51/2017</a:t>
            </a:r>
            <a:endParaRPr lang="en-US" sz="650" dirty="0"/>
          </a:p>
        </p:txBody>
      </p:sp>
      <p:pic>
        <p:nvPicPr>
          <p:cNvPr id="57" name="図 7">
            <a:extLst>
              <a:ext uri="{FF2B5EF4-FFF2-40B4-BE49-F238E27FC236}">
                <a16:creationId xmlns:a16="http://schemas.microsoft.com/office/drawing/2014/main" id="{F6FA71C6-2FD2-313E-3204-AACE1A9A93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44" y="172080"/>
            <a:ext cx="746399" cy="46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137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Roadmap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14400" y="4754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ESG Initiatives Timeline 2025–2026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859536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Shape 3"/>
          <p:cNvSpPr/>
          <p:nvPr/>
        </p:nvSpPr>
        <p:spPr>
          <a:xfrm>
            <a:off x="320040" y="4572000"/>
            <a:ext cx="850392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4"/>
          <p:cNvSpPr/>
          <p:nvPr/>
        </p:nvSpPr>
        <p:spPr>
          <a:xfrm>
            <a:off x="393192" y="4581144"/>
            <a:ext cx="8357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§1.1 + §1.4 + §1.5 Emission Reduction → Priority Actions (text + Timeline) + §3.1 Climate Governance → Recommended Infrastructure Phase 1-3</a:t>
            </a:r>
            <a:endParaRPr lang="en-US" sz="650" dirty="0"/>
          </a:p>
        </p:txBody>
      </p:sp>
      <p:pic>
        <p:nvPicPr>
          <p:cNvPr id="9" name="図 7">
            <a:extLst>
              <a:ext uri="{FF2B5EF4-FFF2-40B4-BE49-F238E27FC236}">
                <a16:creationId xmlns:a16="http://schemas.microsoft.com/office/drawing/2014/main" id="{DDAFB74C-6121-564D-0694-B85E9263E8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44" y="172080"/>
            <a:ext cx="746399" cy="468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822960"/>
            <a:ext cx="8412480" cy="3703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654</Words>
  <Application>Microsoft Office PowerPoint</Application>
  <PresentationFormat>On-screen Show (16:9)</PresentationFormat>
  <Paragraphs>93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ESG Performance Dashboard</dc:title>
  <dc:subject>PptxGenJS Presentation</dc:subject>
  <dc:creator>Tokaicom Mitra Indonesia</dc:creator>
  <cp:lastModifiedBy>Damayanti Erika</cp:lastModifiedBy>
  <cp:revision>2</cp:revision>
  <dcterms:created xsi:type="dcterms:W3CDTF">2026-06-12T10:54:56Z</dcterms:created>
  <dcterms:modified xsi:type="dcterms:W3CDTF">2026-06-12T11:08:49Z</dcterms:modified>
</cp:coreProperties>
</file>