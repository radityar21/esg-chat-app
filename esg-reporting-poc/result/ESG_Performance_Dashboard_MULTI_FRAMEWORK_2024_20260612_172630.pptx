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6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Dashboard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Tokaicom Mitra Indonesia  |  FY2024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3"/>
          <p:cNvSpPr/>
          <p:nvPr/>
        </p:nvSpPr>
        <p:spPr>
          <a:xfrm>
            <a:off x="27432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38404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GHG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404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22024814.173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8404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8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tCO₂e  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918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402336" y="158511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§"Total (Scope 1+2+3)" → col "Emissions" &amp; "YoY Change"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46888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246888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/>
          <p:nvPr/>
        </p:nvSpPr>
        <p:spPr>
          <a:xfrm>
            <a:off x="257860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Intensity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7860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239.400139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57860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8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tCO₂e/IDR Bn  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52374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/>
          <p:nvPr/>
        </p:nvSpPr>
        <p:spPr>
          <a:xfrm>
            <a:off x="259689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§1.4 GHG Emissions Intensity → Table 1.4.1 → row "Revenue-Based" → col "Ratio"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466344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7"/>
          <p:cNvSpPr/>
          <p:nvPr/>
        </p:nvSpPr>
        <p:spPr>
          <a:xfrm>
            <a:off x="466344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984E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8"/>
          <p:cNvSpPr/>
          <p:nvPr/>
        </p:nvSpPr>
        <p:spPr>
          <a:xfrm>
            <a:off x="477316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PCAF Score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7316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3.36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77316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(1-5 scale)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1830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2"/>
          <p:cNvSpPr/>
          <p:nvPr/>
        </p:nvSpPr>
        <p:spPr>
          <a:xfrm>
            <a:off x="479145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 → Table 1.3.1 → row "Portfolio Weighted" → col "PCAF Score"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685800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4"/>
          <p:cNvSpPr/>
          <p:nvPr/>
        </p:nvSpPr>
        <p:spPr>
          <a:xfrm>
            <a:off x="685800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Text 25"/>
          <p:cNvSpPr/>
          <p:nvPr/>
        </p:nvSpPr>
        <p:spPr>
          <a:xfrm>
            <a:off x="696772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96772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69.53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96772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91286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29"/>
          <p:cNvSpPr/>
          <p:nvPr/>
        </p:nvSpPr>
        <p:spPr>
          <a:xfrm>
            <a:off x="698601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 Scope 1 Emissions by Source (2024) → col "% of Total"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274320" y="2011680"/>
            <a:ext cx="4206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5" name="Shape 31"/>
          <p:cNvSpPr/>
          <p:nvPr/>
        </p:nvSpPr>
        <p:spPr>
          <a:xfrm>
            <a:off x="320040" y="3822192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2"/>
          <p:cNvSpPr/>
          <p:nvPr/>
        </p:nvSpPr>
        <p:spPr>
          <a:xfrm>
            <a:off x="393192" y="38313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GHG—Scope 1 → Tbl 1.1.2 + §1.2 Scope 2 + §1.3 Scope 3 Cat 15 → Tbl 1.3.1</a:t>
            </a:r>
            <a:endParaRPr lang="en-US" sz="650" dirty="0"/>
          </a:p>
        </p:txBody>
      </p:sp>
      <p:sp>
        <p:nvSpPr>
          <p:cNvPr id="37" name="Shape 33"/>
          <p:cNvSpPr/>
          <p:nvPr/>
        </p:nvSpPr>
        <p:spPr>
          <a:xfrm>
            <a:off x="4617720" y="2011680"/>
            <a:ext cx="4206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39" name="Shape 34"/>
          <p:cNvSpPr/>
          <p:nvPr/>
        </p:nvSpPr>
        <p:spPr>
          <a:xfrm>
            <a:off x="4663440" y="3822192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5"/>
          <p:cNvSpPr/>
          <p:nvPr/>
        </p:nvSpPr>
        <p:spPr>
          <a:xfrm>
            <a:off x="4736592" y="38313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"Emission Share (%)"</a:t>
            </a:r>
            <a:endParaRPr lang="en-US" sz="650" dirty="0"/>
          </a:p>
        </p:txBody>
      </p:sp>
      <p:sp>
        <p:nvSpPr>
          <p:cNvPr id="41" name="Shape 36"/>
          <p:cNvSpPr/>
          <p:nvPr/>
        </p:nvSpPr>
        <p:spPr>
          <a:xfrm>
            <a:off x="274320" y="411480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2" name="Text 37"/>
          <p:cNvSpPr/>
          <p:nvPr/>
        </p:nvSpPr>
        <p:spPr>
          <a:xfrm>
            <a:off x="41148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Scorecard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114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FEF9E7"/>
          </a:solidFill>
          <a:ln w="1905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39"/>
          <p:cNvSpPr/>
          <p:nvPr/>
        </p:nvSpPr>
        <p:spPr>
          <a:xfrm>
            <a:off x="466344" y="4425696"/>
            <a:ext cx="228600" cy="228600"/>
          </a:xfrm>
          <a:prstGeom prst="ellipse">
            <a:avLst/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5" name="Text 40"/>
          <p:cNvSpPr/>
          <p:nvPr/>
        </p:nvSpPr>
        <p:spPr>
          <a:xfrm>
            <a:off x="4663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7315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7315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Emissions -4.07% YoY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425196" y="4850001"/>
            <a:ext cx="1225296" cy="28346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9" name="Text 44"/>
          <p:cNvSpPr/>
          <p:nvPr/>
        </p:nvSpPr>
        <p:spPr>
          <a:xfrm>
            <a:off x="522099" y="4906649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 Emissions—Scope 1 → Table 1.1.2 → col "% Change" (+2.36%)</a:t>
            </a:r>
            <a:endParaRPr lang="en-US" sz="650" dirty="0"/>
          </a:p>
        </p:txBody>
      </p:sp>
      <p:sp>
        <p:nvSpPr>
          <p:cNvPr id="50" name="Shape 45"/>
          <p:cNvSpPr/>
          <p:nvPr/>
        </p:nvSpPr>
        <p:spPr>
          <a:xfrm>
            <a:off x="17830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8F8F0"/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Shape 46"/>
          <p:cNvSpPr/>
          <p:nvPr/>
        </p:nvSpPr>
        <p:spPr>
          <a:xfrm>
            <a:off x="1837944" y="4425696"/>
            <a:ext cx="228600" cy="22860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2" name="Text 47"/>
          <p:cNvSpPr/>
          <p:nvPr/>
        </p:nvSpPr>
        <p:spPr>
          <a:xfrm>
            <a:off x="18379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21031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21031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Female 42.3%, Training 49.3h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1801368" y="4824711"/>
            <a:ext cx="1225296" cy="32004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6" name="Text 51"/>
          <p:cNvSpPr/>
          <p:nvPr/>
        </p:nvSpPr>
        <p:spPr>
          <a:xfrm>
            <a:off x="1874520" y="4907007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§2.1.4 Diversity &amp; Equal Opportunity → "42.32%" + §2.1.3 Training → "49.3 hrs"</a:t>
            </a:r>
            <a:endParaRPr lang="en-US" sz="650" dirty="0"/>
          </a:p>
        </p:txBody>
      </p:sp>
      <p:sp>
        <p:nvSpPr>
          <p:cNvPr id="57" name="Shape 52"/>
          <p:cNvSpPr/>
          <p:nvPr/>
        </p:nvSpPr>
        <p:spPr>
          <a:xfrm>
            <a:off x="31546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FDEDEC"/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8" name="Shape 53"/>
          <p:cNvSpPr/>
          <p:nvPr/>
        </p:nvSpPr>
        <p:spPr>
          <a:xfrm>
            <a:off x="3209544" y="4425696"/>
            <a:ext cx="228600" cy="228600"/>
          </a:xfrm>
          <a:prstGeom prst="ellipse">
            <a:avLst/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9" name="Text 54"/>
          <p:cNvSpPr/>
          <p:nvPr/>
        </p:nvSpPr>
        <p:spPr>
          <a:xfrm>
            <a:off x="32095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34747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34747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IFRS/ESRS not established</a:t>
            </a:r>
            <a:endParaRPr lang="en-US" sz="700" dirty="0"/>
          </a:p>
        </p:txBody>
      </p:sp>
      <p:sp>
        <p:nvSpPr>
          <p:cNvPr id="62" name="Shape 57"/>
          <p:cNvSpPr/>
          <p:nvPr/>
        </p:nvSpPr>
        <p:spPr>
          <a:xfrm>
            <a:off x="3172968" y="4806895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3" name="Text 58"/>
          <p:cNvSpPr/>
          <p:nvPr/>
        </p:nvSpPr>
        <p:spPr>
          <a:xfrm>
            <a:off x="3246120" y="4889191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&amp; ESG Oversight → Governance Gap Analysis → para 1</a:t>
            </a:r>
            <a:endParaRPr lang="en-US" sz="650" dirty="0"/>
          </a:p>
        </p:txBody>
      </p:sp>
      <p:sp>
        <p:nvSpPr>
          <p:cNvPr id="64" name="Shape 59"/>
          <p:cNvSpPr/>
          <p:nvPr/>
        </p:nvSpPr>
        <p:spPr>
          <a:xfrm>
            <a:off x="4617720" y="411480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5" name="Shape 60"/>
          <p:cNvSpPr/>
          <p:nvPr/>
        </p:nvSpPr>
        <p:spPr>
          <a:xfrm>
            <a:off x="4617720" y="4114800"/>
            <a:ext cx="64008" cy="91440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6" name="Text 61"/>
          <p:cNvSpPr/>
          <p:nvPr/>
        </p:nvSpPr>
        <p:spPr>
          <a:xfrm>
            <a:off x="480060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 Actions</a:t>
            </a:r>
            <a:endParaRPr lang="en-US" sz="1000" dirty="0"/>
          </a:p>
        </p:txBody>
      </p:sp>
      <p:sp>
        <p:nvSpPr>
          <p:cNvPr id="67" name="Shape 62"/>
          <p:cNvSpPr/>
          <p:nvPr/>
        </p:nvSpPr>
        <p:spPr>
          <a:xfrm>
            <a:off x="4800600" y="4398264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8" name="Text 63"/>
          <p:cNvSpPr/>
          <p:nvPr/>
        </p:nvSpPr>
        <p:spPr>
          <a:xfrm>
            <a:off x="4800600" y="43982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00" dirty="0"/>
          </a:p>
        </p:txBody>
      </p:sp>
      <p:sp>
        <p:nvSpPr>
          <p:cNvPr id="69" name="Text 64"/>
          <p:cNvSpPr/>
          <p:nvPr/>
        </p:nvSpPr>
        <p:spPr>
          <a:xfrm>
            <a:off x="4983480" y="438912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Science-Based Targets Initiative (SBTi) commitment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4800600" y="4562856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1" name="Text 66"/>
          <p:cNvSpPr/>
          <p:nvPr/>
        </p:nvSpPr>
        <p:spPr>
          <a:xfrm>
            <a:off x="4800600" y="456285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00" dirty="0"/>
          </a:p>
        </p:txBody>
      </p:sp>
      <p:sp>
        <p:nvSpPr>
          <p:cNvPr id="72" name="Text 67"/>
          <p:cNvSpPr/>
          <p:nvPr/>
        </p:nvSpPr>
        <p:spPr>
          <a:xfrm>
            <a:off x="4983480" y="455371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 PCAF data quality to portfolio average ≤3.0 through </a:t>
            </a:r>
            <a:endParaRPr lang="en-US" sz="800" dirty="0"/>
          </a:p>
        </p:txBody>
      </p:sp>
      <p:sp>
        <p:nvSpPr>
          <p:cNvPr id="73" name="Shape 68"/>
          <p:cNvSpPr/>
          <p:nvPr/>
        </p:nvSpPr>
        <p:spPr>
          <a:xfrm>
            <a:off x="4800600" y="4727448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4" name="Text 69"/>
          <p:cNvSpPr/>
          <p:nvPr/>
        </p:nvSpPr>
        <p:spPr>
          <a:xfrm>
            <a:off x="4800600" y="472744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00" dirty="0"/>
          </a:p>
        </p:txBody>
      </p:sp>
      <p:sp>
        <p:nvSpPr>
          <p:cNvPr id="75" name="Text 70"/>
          <p:cNvSpPr/>
          <p:nvPr/>
        </p:nvSpPr>
        <p:spPr>
          <a:xfrm>
            <a:off x="4983480" y="47183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sector-specific transition plans for Oil &amp; Gas, Ceme</a:t>
            </a:r>
            <a:endParaRPr lang="en-US" sz="800" dirty="0"/>
          </a:p>
        </p:txBody>
      </p:sp>
      <p:sp>
        <p:nvSpPr>
          <p:cNvPr id="76" name="Shape 71"/>
          <p:cNvSpPr/>
          <p:nvPr/>
        </p:nvSpPr>
        <p:spPr>
          <a:xfrm>
            <a:off x="4800600" y="4917576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7" name="Text 72"/>
          <p:cNvSpPr/>
          <p:nvPr/>
        </p:nvSpPr>
        <p:spPr>
          <a:xfrm>
            <a:off x="4873752" y="492672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§1.5 Emission Reduction Initiatives → Priority Actions → items 1-3 text + timeline</a:t>
            </a:r>
            <a:endParaRPr lang="en-US" sz="650" dirty="0"/>
          </a:p>
        </p:txBody>
      </p:sp>
      <p:pic>
        <p:nvPicPr>
          <p:cNvPr id="78" name="図 7">
            <a:extLst>
              <a:ext uri="{FF2B5EF4-FFF2-40B4-BE49-F238E27FC236}">
                <a16:creationId xmlns:a16="http://schemas.microsoft.com/office/drawing/2014/main" id="{C35FF680-9569-3A2F-7C0F-730D668A49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29968"/>
            <a:ext cx="3076303" cy="178308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334" y="2029968"/>
            <a:ext cx="2493819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Environmental Deep Dive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Financed Emissions &amp; Operational Footprint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666206"/>
            <a:ext cx="4206240" cy="235131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3"/>
          <p:cNvSpPr/>
          <p:nvPr/>
        </p:nvSpPr>
        <p:spPr>
          <a:xfrm>
            <a:off x="320040" y="278892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4"/>
          <p:cNvSpPr/>
          <p:nvPr/>
        </p:nvSpPr>
        <p:spPr>
          <a:xfrm>
            <a:off x="393192" y="279806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 Emissions—Scope 1 → Table 1.1.1 → col "Emissions" &amp; "% of Scope 1"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617720" y="622912"/>
            <a:ext cx="4206240" cy="2394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6"/>
          <p:cNvSpPr/>
          <p:nvPr/>
        </p:nvSpPr>
        <p:spPr>
          <a:xfrm>
            <a:off x="4663440" y="278892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7"/>
          <p:cNvSpPr/>
          <p:nvPr/>
        </p:nvSpPr>
        <p:spPr>
          <a:xfrm>
            <a:off x="4736592" y="279806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"Gross Emissions"</a:t>
            </a:r>
            <a:endParaRPr lang="en-US" sz="650" dirty="0"/>
          </a:p>
        </p:txBody>
      </p:sp>
      <p:sp>
        <p:nvSpPr>
          <p:cNvPr id="13" name="Shape 8"/>
          <p:cNvSpPr/>
          <p:nvPr/>
        </p:nvSpPr>
        <p:spPr>
          <a:xfrm>
            <a:off x="274320" y="3075099"/>
            <a:ext cx="4206240" cy="1980106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9"/>
          <p:cNvSpPr/>
          <p:nvPr/>
        </p:nvSpPr>
        <p:spPr>
          <a:xfrm>
            <a:off x="320040" y="475488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0"/>
          <p:cNvSpPr/>
          <p:nvPr/>
        </p:nvSpPr>
        <p:spPr>
          <a:xfrm>
            <a:off x="393192" y="476402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§1.4 GHG Emissions Intensity → Table 1.4.1 col "Ratio" + Table 1.4.2 col "2024" &amp; "2023"</a:t>
            </a:r>
            <a:endParaRPr lang="en-US" sz="650" dirty="0"/>
          </a:p>
        </p:txBody>
      </p:sp>
      <p:sp>
        <p:nvSpPr>
          <p:cNvPr id="17" name="Shape 11"/>
          <p:cNvSpPr/>
          <p:nvPr/>
        </p:nvSpPr>
        <p:spPr>
          <a:xfrm>
            <a:off x="4617720" y="3127248"/>
            <a:ext cx="4206240" cy="1874520"/>
          </a:xfrm>
          <a:prstGeom prst="roundRect">
            <a:avLst>
              <a:gd name="adj" fmla="val 5854"/>
            </a:avLst>
          </a:prstGeom>
          <a:solidFill>
            <a:srgbClr val="F3F0FF"/>
          </a:solidFill>
          <a:ln w="19050">
            <a:solidFill>
              <a:srgbClr val="6C5CE7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2"/>
          <p:cNvSpPr/>
          <p:nvPr/>
        </p:nvSpPr>
        <p:spPr>
          <a:xfrm>
            <a:off x="4617720" y="3127248"/>
            <a:ext cx="4206240" cy="54864"/>
          </a:xfrm>
          <a:prstGeom prst="roundRect">
            <a:avLst>
              <a:gd name="adj" fmla="val 20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3"/>
          <p:cNvSpPr/>
          <p:nvPr/>
        </p:nvSpPr>
        <p:spPr>
          <a:xfrm>
            <a:off x="4754880" y="3264408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4"/>
          <p:cNvSpPr/>
          <p:nvPr/>
        </p:nvSpPr>
        <p:spPr>
          <a:xfrm>
            <a:off x="475488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⚡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102352" y="32826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54880" y="3584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99.78% of total emissions from financed activities (Scope 3 Cat 15). Top 3 sectors = 85.93% of financed emissions despite only 20.70% of portfolio.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754880" y="4041648"/>
            <a:ext cx="38862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18"/>
          <p:cNvSpPr/>
          <p:nvPr/>
        </p:nvSpPr>
        <p:spPr>
          <a:xfrm>
            <a:off x="4828032" y="4050792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para 2 "constitute 99.78%" + para 4 "85.93%"</a:t>
            </a:r>
            <a:endParaRPr lang="en-US" sz="650" dirty="0"/>
          </a:p>
        </p:txBody>
      </p:sp>
      <p:sp>
        <p:nvSpPr>
          <p:cNvPr id="25" name="Shape 19"/>
          <p:cNvSpPr/>
          <p:nvPr/>
        </p:nvSpPr>
        <p:spPr>
          <a:xfrm>
            <a:off x="47548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0"/>
          <p:cNvSpPr/>
          <p:nvPr/>
        </p:nvSpPr>
        <p:spPr>
          <a:xfrm>
            <a:off x="47548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7548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Facilities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791456" y="4700016"/>
            <a:ext cx="1188720" cy="22860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3"/>
          <p:cNvSpPr/>
          <p:nvPr/>
        </p:nvSpPr>
        <p:spPr>
          <a:xfrm>
            <a:off x="4864608" y="4732912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GHG—Scope 1 → Table 1.1.3 → row count</a:t>
            </a:r>
            <a:endParaRPr lang="en-US" sz="650" dirty="0"/>
          </a:p>
        </p:txBody>
      </p:sp>
      <p:sp>
        <p:nvSpPr>
          <p:cNvPr id="30" name="Shape 24"/>
          <p:cNvSpPr/>
          <p:nvPr/>
        </p:nvSpPr>
        <p:spPr>
          <a:xfrm>
            <a:off x="61264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" name="Text 25"/>
          <p:cNvSpPr/>
          <p:nvPr/>
        </p:nvSpPr>
        <p:spPr>
          <a:xfrm>
            <a:off x="61264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3.36/5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1264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PCAF Score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163056" y="471177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28"/>
          <p:cNvSpPr/>
          <p:nvPr/>
        </p:nvSpPr>
        <p:spPr>
          <a:xfrm>
            <a:off x="6242146" y="479228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para "PCAF score of 3.36"</a:t>
            </a:r>
            <a:endParaRPr lang="en-US" sz="650" dirty="0"/>
          </a:p>
        </p:txBody>
      </p:sp>
      <p:sp>
        <p:nvSpPr>
          <p:cNvPr id="35" name="Shape 29"/>
          <p:cNvSpPr/>
          <p:nvPr/>
        </p:nvSpPr>
        <p:spPr>
          <a:xfrm>
            <a:off x="74980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" name="Text 30"/>
          <p:cNvSpPr/>
          <p:nvPr/>
        </p:nvSpPr>
        <p:spPr>
          <a:xfrm>
            <a:off x="74980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-4.07%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4980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Change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7534656" y="472507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3"/>
          <p:cNvSpPr/>
          <p:nvPr/>
        </p:nvSpPr>
        <p:spPr>
          <a:xfrm>
            <a:off x="7607808" y="479822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"YoY"</a:t>
            </a:r>
            <a:endParaRPr lang="en-US" sz="650" dirty="0"/>
          </a:p>
        </p:txBody>
      </p:sp>
      <p:pic>
        <p:nvPicPr>
          <p:cNvPr id="40" name="図 7">
            <a:extLst>
              <a:ext uri="{FF2B5EF4-FFF2-40B4-BE49-F238E27FC236}">
                <a16:creationId xmlns:a16="http://schemas.microsoft.com/office/drawing/2014/main" id="{62F2591E-1A7C-9E7B-1068-A19A6480FE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704088"/>
            <a:ext cx="2731325" cy="2057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666206"/>
            <a:ext cx="3414156" cy="2095282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330" y="3108839"/>
            <a:ext cx="3319153" cy="16903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&amp; Governance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Performance &amp; Compliance Gaps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788920" cy="42062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6" name="Image 1" descr="artifacts/chart_so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2697480" cy="2606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3474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Pillar Score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3703320"/>
            <a:ext cx="2377440" cy="265176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5"/>
          <p:cNvSpPr/>
          <p:nvPr/>
        </p:nvSpPr>
        <p:spPr>
          <a:xfrm>
            <a:off x="530352" y="374809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§2.1.1 Workforce + §2.1.2 Employment + §2.1.3 Training + §2.1.4 Diversity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3246120" y="77724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Text 7"/>
          <p:cNvSpPr/>
          <p:nvPr/>
        </p:nvSpPr>
        <p:spPr>
          <a:xfrm>
            <a:off x="3383280" y="886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Metrics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55848" y="123444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Text 9"/>
          <p:cNvSpPr/>
          <p:nvPr/>
        </p:nvSpPr>
        <p:spPr>
          <a:xfrm>
            <a:off x="347472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8.45%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474720" y="17099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FTE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410712" y="198424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2"/>
          <p:cNvSpPr/>
          <p:nvPr/>
        </p:nvSpPr>
        <p:spPr>
          <a:xfrm>
            <a:off x="3483864" y="199339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§2.1.1 Workforce Overview (GRI 2-7) → para 1 → "24,997 FTE"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3355848" y="246888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Text 14"/>
          <p:cNvSpPr/>
          <p:nvPr/>
        </p:nvSpPr>
        <p:spPr>
          <a:xfrm>
            <a:off x="347472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42.32%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474720" y="2944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Female %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410712" y="321868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3483864" y="322783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§2.1.4 Diversity &amp; Equal Opportunity (GRI 405-1) → para 1 → "42.32%"</a:t>
            </a:r>
            <a:endParaRPr lang="en-US" sz="650" dirty="0"/>
          </a:p>
        </p:txBody>
      </p:sp>
      <p:sp>
        <p:nvSpPr>
          <p:cNvPr id="22" name="Shape 18"/>
          <p:cNvSpPr/>
          <p:nvPr/>
        </p:nvSpPr>
        <p:spPr>
          <a:xfrm>
            <a:off x="3355848" y="37033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Text 19"/>
          <p:cNvSpPr/>
          <p:nvPr/>
        </p:nvSpPr>
        <p:spPr>
          <a:xfrm>
            <a:off x="347472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49.3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3474720" y="4178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Hrs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410712" y="445312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2"/>
          <p:cNvSpPr/>
          <p:nvPr/>
        </p:nvSpPr>
        <p:spPr>
          <a:xfrm>
            <a:off x="3483864" y="446227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§2.1.3 Training &amp; Education (GRI 404-1) → para 1 → "49.3 hrs per FTE"</a:t>
            </a:r>
            <a:endParaRPr lang="en-US" sz="650" dirty="0"/>
          </a:p>
        </p:txBody>
      </p:sp>
      <p:sp>
        <p:nvSpPr>
          <p:cNvPr id="27" name="Shape 23"/>
          <p:cNvSpPr/>
          <p:nvPr/>
        </p:nvSpPr>
        <p:spPr>
          <a:xfrm>
            <a:off x="5989320" y="777240"/>
            <a:ext cx="2971800" cy="420624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Shape 24"/>
          <p:cNvSpPr/>
          <p:nvPr/>
        </p:nvSpPr>
        <p:spPr>
          <a:xfrm>
            <a:off x="5989320" y="777240"/>
            <a:ext cx="2971800" cy="54864"/>
          </a:xfrm>
          <a:prstGeom prst="roundRect">
            <a:avLst>
              <a:gd name="adj" fmla="val 20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Text 25"/>
          <p:cNvSpPr/>
          <p:nvPr/>
        </p:nvSpPr>
        <p:spPr>
          <a:xfrm>
            <a:off x="612648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Gaps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099048" y="13258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 w="15240">
            <a:solidFill>
              <a:srgbClr val="E17055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Shape 27"/>
          <p:cNvSpPr/>
          <p:nvPr/>
        </p:nvSpPr>
        <p:spPr>
          <a:xfrm>
            <a:off x="6099048" y="132588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Shape 28"/>
          <p:cNvSpPr/>
          <p:nvPr/>
        </p:nvSpPr>
        <p:spPr>
          <a:xfrm>
            <a:off x="6263640" y="14356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" name="Text 29"/>
          <p:cNvSpPr/>
          <p:nvPr/>
        </p:nvSpPr>
        <p:spPr>
          <a:xfrm>
            <a:off x="626364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629400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IFRS S2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629400" y="176479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" name="Text 32"/>
          <p:cNvSpPr/>
          <p:nvPr/>
        </p:nvSpPr>
        <p:spPr>
          <a:xfrm>
            <a:off x="6629400" y="1764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(6 gaps)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217920" y="207568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4"/>
          <p:cNvSpPr/>
          <p:nvPr/>
        </p:nvSpPr>
        <p:spPr>
          <a:xfrm>
            <a:off x="6291072" y="208483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IFRS S2 Para 5-7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6099048" y="25146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 w="15240">
            <a:solidFill>
              <a:srgbClr val="E17055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0" name="Shape 36"/>
          <p:cNvSpPr/>
          <p:nvPr/>
        </p:nvSpPr>
        <p:spPr>
          <a:xfrm>
            <a:off x="6099048" y="251460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1" name="Shape 37"/>
          <p:cNvSpPr/>
          <p:nvPr/>
        </p:nvSpPr>
        <p:spPr>
          <a:xfrm>
            <a:off x="6263640" y="26243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2" name="Text 38"/>
          <p:cNvSpPr/>
          <p:nvPr/>
        </p:nvSpPr>
        <p:spPr>
          <a:xfrm>
            <a:off x="626364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629400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ESRS E1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629400" y="295351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5" name="Text 41"/>
          <p:cNvSpPr/>
          <p:nvPr/>
        </p:nvSpPr>
        <p:spPr>
          <a:xfrm>
            <a:off x="6629400" y="2953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(6 gaps)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6217920" y="326440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Text 43"/>
          <p:cNvSpPr/>
          <p:nvPr/>
        </p:nvSpPr>
        <p:spPr>
          <a:xfrm>
            <a:off x="6291072" y="327355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ESRS 2 GOV-3</a:t>
            </a:r>
            <a:endParaRPr lang="en-US" sz="650" dirty="0"/>
          </a:p>
        </p:txBody>
      </p:sp>
      <p:sp>
        <p:nvSpPr>
          <p:cNvPr id="48" name="Shape 44"/>
          <p:cNvSpPr/>
          <p:nvPr/>
        </p:nvSpPr>
        <p:spPr>
          <a:xfrm>
            <a:off x="6099048" y="37033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EF9E7"/>
          </a:solidFill>
          <a:ln w="15240">
            <a:solidFill>
              <a:srgbClr val="FDCB6E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9" name="Shape 45"/>
          <p:cNvSpPr/>
          <p:nvPr/>
        </p:nvSpPr>
        <p:spPr>
          <a:xfrm>
            <a:off x="6099048" y="370332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0" name="Shape 46"/>
          <p:cNvSpPr/>
          <p:nvPr/>
        </p:nvSpPr>
        <p:spPr>
          <a:xfrm>
            <a:off x="6263640" y="38130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1" name="Text 47"/>
          <p:cNvSpPr/>
          <p:nvPr/>
        </p:nvSpPr>
        <p:spPr>
          <a:xfrm>
            <a:off x="626364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▲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6629400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OJK PSPK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6629400" y="414223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4" name="Text 50"/>
          <p:cNvSpPr/>
          <p:nvPr/>
        </p:nvSpPr>
        <p:spPr>
          <a:xfrm>
            <a:off x="6629400" y="41422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(3 gaps)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6217920" y="445312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6" name="Text 52"/>
          <p:cNvSpPr/>
          <p:nvPr/>
        </p:nvSpPr>
        <p:spPr>
          <a:xfrm>
            <a:off x="6291072" y="446227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OJK POJK 51/2017</a:t>
            </a:r>
            <a:endParaRPr lang="en-US" sz="650" dirty="0"/>
          </a:p>
        </p:txBody>
      </p:sp>
      <p:pic>
        <p:nvPicPr>
          <p:cNvPr id="57" name="図 7">
            <a:extLst>
              <a:ext uri="{FF2B5EF4-FFF2-40B4-BE49-F238E27FC236}">
                <a16:creationId xmlns:a16="http://schemas.microsoft.com/office/drawing/2014/main" id="{F6FA71C6-2FD2-313E-3204-AACE1A9A93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Roadmap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Initiatives Timeline 2025–2026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3"/>
          <p:cNvSpPr/>
          <p:nvPr/>
        </p:nvSpPr>
        <p:spPr>
          <a:xfrm>
            <a:off x="320040" y="4572000"/>
            <a:ext cx="850392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4"/>
          <p:cNvSpPr/>
          <p:nvPr/>
        </p:nvSpPr>
        <p:spPr>
          <a:xfrm>
            <a:off x="393192" y="4581144"/>
            <a:ext cx="8357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+ §1.4 + §1.5 Emission Reduction → Priority Actions (text + Timeline) + §3.1 Climate Governance → Recommended Infrastructure Phase 1-3</a:t>
            </a:r>
            <a:endParaRPr lang="en-US" sz="650" dirty="0"/>
          </a:p>
        </p:txBody>
      </p:sp>
      <p:pic>
        <p:nvPicPr>
          <p:cNvPr id="9" name="図 7">
            <a:extLst>
              <a:ext uri="{FF2B5EF4-FFF2-40B4-BE49-F238E27FC236}">
                <a16:creationId xmlns:a16="http://schemas.microsoft.com/office/drawing/2014/main" id="{DDAFB74C-6121-564D-0694-B85E9263E8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822960"/>
            <a:ext cx="8412480" cy="3703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654</Words>
  <Application>Microsoft Office PowerPoint</Application>
  <PresentationFormat>On-screen Show (16:9)</PresentationFormat>
  <Paragraphs>93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Performance Dashboard</dc:title>
  <dc:subject>PptxGenJS Presentation</dc:subject>
  <dc:creator>Tokaicom Mitra Indonesia</dc:creator>
  <cp:lastModifiedBy>Damayanti Erika</cp:lastModifiedBy>
  <cp:revision>2</cp:revision>
  <dcterms:created xsi:type="dcterms:W3CDTF">2026-06-12T10:54:56Z</dcterms:created>
  <dcterms:modified xsi:type="dcterms:W3CDTF">2026-06-12T11:08:49Z</dcterms:modified>
</cp:coreProperties>
</file>