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66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Dashboard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57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Tokaicom Mitra Indonesia  |  FY2024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" name="Shape 3"/>
          <p:cNvSpPr/>
          <p:nvPr/>
        </p:nvSpPr>
        <p:spPr>
          <a:xfrm>
            <a:off x="27432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38404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GHG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38404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22.03M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8404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  ▼ 4.07%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918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02336" y="1585118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§"Total (Scope 1+2+3)" → col "Emissions" &amp; "YoY Change"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46888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Shape 10"/>
          <p:cNvSpPr/>
          <p:nvPr/>
        </p:nvSpPr>
        <p:spPr>
          <a:xfrm>
            <a:off x="246888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257860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Intensity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57860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239.4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7860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89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tCO₂e/IDR Bn  ▼ 11.3%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2374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5"/>
          <p:cNvSpPr/>
          <p:nvPr/>
        </p:nvSpPr>
        <p:spPr>
          <a:xfrm>
            <a:off x="259689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→ row "Revenue-Based" → col "Ratio"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466344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0" name="Shape 17"/>
          <p:cNvSpPr/>
          <p:nvPr/>
        </p:nvSpPr>
        <p:spPr>
          <a:xfrm>
            <a:off x="466344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984E3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1" name="Text 18"/>
          <p:cNvSpPr/>
          <p:nvPr/>
        </p:nvSpPr>
        <p:spPr>
          <a:xfrm>
            <a:off x="477316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77316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477316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/5.0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1830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2"/>
          <p:cNvSpPr/>
          <p:nvPr/>
        </p:nvSpPr>
        <p:spPr>
          <a:xfrm>
            <a:off x="479145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 → Table 1.3.1 → row "Portfolio Weighted" → col "PCAF Score"</a:t>
            </a:r>
            <a:endParaRPr lang="en-US" sz="650" dirty="0"/>
          </a:p>
        </p:txBody>
      </p:sp>
      <p:sp>
        <p:nvSpPr>
          <p:cNvPr id="26" name="Shape 23"/>
          <p:cNvSpPr/>
          <p:nvPr/>
        </p:nvSpPr>
        <p:spPr>
          <a:xfrm>
            <a:off x="6858000" y="777240"/>
            <a:ext cx="205740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7" name="Shape 24"/>
          <p:cNvSpPr/>
          <p:nvPr/>
        </p:nvSpPr>
        <p:spPr>
          <a:xfrm>
            <a:off x="6858000" y="777240"/>
            <a:ext cx="2057400" cy="45720"/>
          </a:xfrm>
          <a:prstGeom prst="roundRect">
            <a:avLst>
              <a:gd name="adj" fmla="val 240000"/>
            </a:avLst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8" name="Text 25"/>
          <p:cNvSpPr/>
          <p:nvPr/>
        </p:nvSpPr>
        <p:spPr>
          <a:xfrm>
            <a:off x="6967728" y="88696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967728" y="10332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99.78%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6967728" y="13258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total footprint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912864" y="1581912"/>
            <a:ext cx="1947672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29"/>
          <p:cNvSpPr/>
          <p:nvPr/>
        </p:nvSpPr>
        <p:spPr>
          <a:xfrm>
            <a:off x="6986016" y="1591056"/>
            <a:ext cx="1801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 Scope 1 Emissions by Source (2024) → col "% of Total"</a:t>
            </a:r>
            <a:endParaRPr lang="en-US" sz="650" dirty="0"/>
          </a:p>
        </p:txBody>
      </p:sp>
      <p:sp>
        <p:nvSpPr>
          <p:cNvPr id="33" name="Shape 30"/>
          <p:cNvSpPr/>
          <p:nvPr/>
        </p:nvSpPr>
        <p:spPr>
          <a:xfrm>
            <a:off x="2743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5" name="Shape 31"/>
          <p:cNvSpPr/>
          <p:nvPr/>
        </p:nvSpPr>
        <p:spPr>
          <a:xfrm>
            <a:off x="3200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3931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Tbl 1.1.2 + §1.2 Scope 2 + §1.3 Scope 3 Cat 15 → Tbl 1.3.1</a:t>
            </a:r>
            <a:endParaRPr lang="en-US" sz="650" dirty="0"/>
          </a:p>
        </p:txBody>
      </p:sp>
      <p:sp>
        <p:nvSpPr>
          <p:cNvPr id="37" name="Shape 33"/>
          <p:cNvSpPr/>
          <p:nvPr/>
        </p:nvSpPr>
        <p:spPr>
          <a:xfrm>
            <a:off x="4617720" y="2011680"/>
            <a:ext cx="420624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 dirty="0"/>
          </a:p>
        </p:txBody>
      </p:sp>
      <p:sp>
        <p:nvSpPr>
          <p:cNvPr id="39" name="Shape 34"/>
          <p:cNvSpPr/>
          <p:nvPr/>
        </p:nvSpPr>
        <p:spPr>
          <a:xfrm>
            <a:off x="4663440" y="3822192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Text 35"/>
          <p:cNvSpPr/>
          <p:nvPr/>
        </p:nvSpPr>
        <p:spPr>
          <a:xfrm>
            <a:off x="4736592" y="3831336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"Emission Share (%)"</a:t>
            </a:r>
            <a:endParaRPr lang="en-US" sz="650" dirty="0"/>
          </a:p>
        </p:txBody>
      </p:sp>
      <p:sp>
        <p:nvSpPr>
          <p:cNvPr id="41" name="Shape 36"/>
          <p:cNvSpPr/>
          <p:nvPr/>
        </p:nvSpPr>
        <p:spPr>
          <a:xfrm>
            <a:off x="2743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2" name="Text 37"/>
          <p:cNvSpPr/>
          <p:nvPr/>
        </p:nvSpPr>
        <p:spPr>
          <a:xfrm>
            <a:off x="41148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Scorecard</a:t>
            </a:r>
            <a:endParaRPr lang="en-US" sz="1000" dirty="0"/>
          </a:p>
        </p:txBody>
      </p:sp>
      <p:sp>
        <p:nvSpPr>
          <p:cNvPr id="43" name="Shape 38"/>
          <p:cNvSpPr/>
          <p:nvPr/>
        </p:nvSpPr>
        <p:spPr>
          <a:xfrm>
            <a:off x="4114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EF9E7"/>
          </a:solidFill>
          <a:ln w="19050">
            <a:solidFill>
              <a:srgbClr val="FDCB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Shape 39"/>
          <p:cNvSpPr/>
          <p:nvPr/>
        </p:nvSpPr>
        <p:spPr>
          <a:xfrm>
            <a:off x="466344" y="4425696"/>
            <a:ext cx="228600" cy="228600"/>
          </a:xfrm>
          <a:prstGeom prst="ellipse">
            <a:avLst/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0"/>
          <p:cNvSpPr/>
          <p:nvPr/>
        </p:nvSpPr>
        <p:spPr>
          <a:xfrm>
            <a:off x="4663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7315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Stable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7315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Emissions -4.07% YoY</a:t>
            </a:r>
            <a:endParaRPr lang="en-US" sz="700" dirty="0"/>
          </a:p>
        </p:txBody>
      </p:sp>
      <p:sp>
        <p:nvSpPr>
          <p:cNvPr id="48" name="Shape 43"/>
          <p:cNvSpPr/>
          <p:nvPr/>
        </p:nvSpPr>
        <p:spPr>
          <a:xfrm>
            <a:off x="425196" y="4850001"/>
            <a:ext cx="1225296" cy="28346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Text 44"/>
          <p:cNvSpPr/>
          <p:nvPr/>
        </p:nvSpPr>
        <p:spPr>
          <a:xfrm>
            <a:off x="522099" y="4906649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1.1.2 → col "% Change" (+2.36%)</a:t>
            </a:r>
            <a:endParaRPr lang="en-US" sz="650" dirty="0"/>
          </a:p>
        </p:txBody>
      </p:sp>
      <p:sp>
        <p:nvSpPr>
          <p:cNvPr id="50" name="Shape 45"/>
          <p:cNvSpPr/>
          <p:nvPr/>
        </p:nvSpPr>
        <p:spPr>
          <a:xfrm>
            <a:off x="17830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8F8F0"/>
          </a:solidFill>
          <a:ln w="19050">
            <a:solidFill>
              <a:srgbClr val="00B89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6"/>
          <p:cNvSpPr/>
          <p:nvPr/>
        </p:nvSpPr>
        <p:spPr>
          <a:xfrm>
            <a:off x="1837944" y="4425696"/>
            <a:ext cx="228600" cy="228600"/>
          </a:xfrm>
          <a:prstGeom prst="ellipse">
            <a:avLst/>
          </a:prstGeom>
          <a:solidFill>
            <a:srgbClr val="00B894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2" name="Text 47"/>
          <p:cNvSpPr/>
          <p:nvPr/>
        </p:nvSpPr>
        <p:spPr>
          <a:xfrm>
            <a:off x="18379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900" dirty="0"/>
          </a:p>
        </p:txBody>
      </p:sp>
      <p:sp>
        <p:nvSpPr>
          <p:cNvPr id="53" name="Text 48"/>
          <p:cNvSpPr/>
          <p:nvPr/>
        </p:nvSpPr>
        <p:spPr>
          <a:xfrm>
            <a:off x="21031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</a:t>
            </a:r>
            <a:endParaRPr lang="en-US" sz="900" dirty="0"/>
          </a:p>
        </p:txBody>
      </p:sp>
      <p:sp>
        <p:nvSpPr>
          <p:cNvPr id="54" name="Text 49"/>
          <p:cNvSpPr/>
          <p:nvPr/>
        </p:nvSpPr>
        <p:spPr>
          <a:xfrm>
            <a:off x="21031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42.3%, Training 49.3h</a:t>
            </a:r>
            <a:endParaRPr lang="en-US" sz="700" dirty="0"/>
          </a:p>
        </p:txBody>
      </p:sp>
      <p:sp>
        <p:nvSpPr>
          <p:cNvPr id="55" name="Shape 50"/>
          <p:cNvSpPr/>
          <p:nvPr/>
        </p:nvSpPr>
        <p:spPr>
          <a:xfrm>
            <a:off x="1801368" y="4824711"/>
            <a:ext cx="1225296" cy="32004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1"/>
          <p:cNvSpPr/>
          <p:nvPr/>
        </p:nvSpPr>
        <p:spPr>
          <a:xfrm>
            <a:off x="1874520" y="4907007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→ "42.32%" + §2.1.3 Training → "49.3 hrs"</a:t>
            </a:r>
            <a:endParaRPr lang="en-US" sz="650" dirty="0"/>
          </a:p>
        </p:txBody>
      </p:sp>
      <p:sp>
        <p:nvSpPr>
          <p:cNvPr id="57" name="Shape 52"/>
          <p:cNvSpPr/>
          <p:nvPr/>
        </p:nvSpPr>
        <p:spPr>
          <a:xfrm>
            <a:off x="3154680" y="4370832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FDEDEC"/>
          </a:solidFill>
          <a:ln w="19050">
            <a:solidFill>
              <a:srgbClr val="E17055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3"/>
          <p:cNvSpPr/>
          <p:nvPr/>
        </p:nvSpPr>
        <p:spPr>
          <a:xfrm>
            <a:off x="3209544" y="4425696"/>
            <a:ext cx="228600" cy="228600"/>
          </a:xfrm>
          <a:prstGeom prst="ellipse">
            <a:avLst/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9" name="Text 54"/>
          <p:cNvSpPr/>
          <p:nvPr/>
        </p:nvSpPr>
        <p:spPr>
          <a:xfrm>
            <a:off x="3209544" y="44256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474720" y="440740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3474720" y="4590288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IFRS/ESRS not established</a:t>
            </a:r>
            <a:endParaRPr lang="en-US" sz="700" dirty="0"/>
          </a:p>
        </p:txBody>
      </p:sp>
      <p:sp>
        <p:nvSpPr>
          <p:cNvPr id="62" name="Shape 57"/>
          <p:cNvSpPr/>
          <p:nvPr/>
        </p:nvSpPr>
        <p:spPr>
          <a:xfrm>
            <a:off x="3172968" y="4806895"/>
            <a:ext cx="1225296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Text 58"/>
          <p:cNvSpPr/>
          <p:nvPr/>
        </p:nvSpPr>
        <p:spPr>
          <a:xfrm>
            <a:off x="3246120" y="4889191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&amp; ESG Oversight → Governance Gap Analysis → para 1</a:t>
            </a:r>
            <a:endParaRPr lang="en-US" sz="650" dirty="0"/>
          </a:p>
        </p:txBody>
      </p:sp>
      <p:sp>
        <p:nvSpPr>
          <p:cNvPr id="64" name="Shape 59"/>
          <p:cNvSpPr/>
          <p:nvPr/>
        </p:nvSpPr>
        <p:spPr>
          <a:xfrm>
            <a:off x="4617720" y="411480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65" name="Shape 60"/>
          <p:cNvSpPr/>
          <p:nvPr/>
        </p:nvSpPr>
        <p:spPr>
          <a:xfrm>
            <a:off x="4617720" y="4114800"/>
            <a:ext cx="64008" cy="91440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6" name="Text 61"/>
          <p:cNvSpPr/>
          <p:nvPr/>
        </p:nvSpPr>
        <p:spPr>
          <a:xfrm>
            <a:off x="4800600" y="41605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Board Actions</a:t>
            </a:r>
            <a:endParaRPr lang="en-US" sz="1000" dirty="0"/>
          </a:p>
        </p:txBody>
      </p:sp>
      <p:sp>
        <p:nvSpPr>
          <p:cNvPr id="67" name="Shape 62"/>
          <p:cNvSpPr/>
          <p:nvPr/>
        </p:nvSpPr>
        <p:spPr>
          <a:xfrm>
            <a:off x="4800600" y="4398264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68" name="Text 63"/>
          <p:cNvSpPr/>
          <p:nvPr/>
        </p:nvSpPr>
        <p:spPr>
          <a:xfrm>
            <a:off x="4800600" y="4398264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  <p:sp>
        <p:nvSpPr>
          <p:cNvPr id="69" name="Text 64"/>
          <p:cNvSpPr/>
          <p:nvPr/>
        </p:nvSpPr>
        <p:spPr>
          <a:xfrm>
            <a:off x="4983480" y="438912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Establish sector emission targets (O&amp;G, Cement, Steel)</a:t>
            </a:r>
            <a:endParaRPr lang="en-US" sz="800" dirty="0"/>
          </a:p>
        </p:txBody>
      </p:sp>
      <p:sp>
        <p:nvSpPr>
          <p:cNvPr id="70" name="Shape 65"/>
          <p:cNvSpPr/>
          <p:nvPr/>
        </p:nvSpPr>
        <p:spPr>
          <a:xfrm>
            <a:off x="4800600" y="4562856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1" name="Text 66"/>
          <p:cNvSpPr/>
          <p:nvPr/>
        </p:nvSpPr>
        <p:spPr>
          <a:xfrm>
            <a:off x="4800600" y="4562856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  <p:sp>
        <p:nvSpPr>
          <p:cNvPr id="72" name="Text 67"/>
          <p:cNvSpPr/>
          <p:nvPr/>
        </p:nvSpPr>
        <p:spPr>
          <a:xfrm>
            <a:off x="4983480" y="45537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PCAF data quality 3.36 → ≤3.0</a:t>
            </a:r>
            <a:endParaRPr lang="en-US" sz="800" dirty="0"/>
          </a:p>
        </p:txBody>
      </p:sp>
      <p:sp>
        <p:nvSpPr>
          <p:cNvPr id="73" name="Shape 68"/>
          <p:cNvSpPr/>
          <p:nvPr/>
        </p:nvSpPr>
        <p:spPr>
          <a:xfrm>
            <a:off x="4800600" y="4727448"/>
            <a:ext cx="128016" cy="128016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74" name="Text 69"/>
          <p:cNvSpPr/>
          <p:nvPr/>
        </p:nvSpPr>
        <p:spPr>
          <a:xfrm>
            <a:off x="4800600" y="4727448"/>
            <a:ext cx="1280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  <p:sp>
        <p:nvSpPr>
          <p:cNvPr id="75" name="Text 70"/>
          <p:cNvSpPr/>
          <p:nvPr/>
        </p:nvSpPr>
        <p:spPr>
          <a:xfrm>
            <a:off x="4983480" y="47183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Obtain limited assurance (Scope 1, 2, 3)</a:t>
            </a:r>
            <a:endParaRPr lang="en-US" sz="800" dirty="0"/>
          </a:p>
        </p:txBody>
      </p:sp>
      <p:sp>
        <p:nvSpPr>
          <p:cNvPr id="76" name="Shape 71"/>
          <p:cNvSpPr/>
          <p:nvPr/>
        </p:nvSpPr>
        <p:spPr>
          <a:xfrm>
            <a:off x="4800600" y="4917576"/>
            <a:ext cx="384048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7" name="Text 72"/>
          <p:cNvSpPr/>
          <p:nvPr/>
        </p:nvSpPr>
        <p:spPr>
          <a:xfrm>
            <a:off x="4873752" y="4926720"/>
            <a:ext cx="3694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§1.5 Emission Reduction Initiatives → Priority Actions → items 1-3 text + timeline</a:t>
            </a:r>
            <a:endParaRPr lang="en-US" sz="650" dirty="0"/>
          </a:p>
        </p:txBody>
      </p:sp>
      <p:pic>
        <p:nvPicPr>
          <p:cNvPr id="78" name="図 7">
            <a:extLst>
              <a:ext uri="{FF2B5EF4-FFF2-40B4-BE49-F238E27FC236}">
                <a16:creationId xmlns:a16="http://schemas.microsoft.com/office/drawing/2014/main" id="{C35FF680-9569-3A2F-7C0F-730D668A492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2029968"/>
            <a:ext cx="3076303" cy="1783080"/>
          </a:xfrm>
          <a:prstGeom prst="rect">
            <a:avLst/>
          </a:prstGeom>
        </p:spPr>
      </p:pic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7334" y="2029968"/>
            <a:ext cx="2493819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Environmental Deep Dive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Financed Emissions &amp; Operational Footprint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666206"/>
            <a:ext cx="4206240" cy="235131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3"/>
          <p:cNvSpPr/>
          <p:nvPr/>
        </p:nvSpPr>
        <p:spPr>
          <a:xfrm>
            <a:off x="3200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 Emissions—Scope 1 → Table 1.1.1 → col "Emissions" &amp; "% of Scope 1"</a:t>
            </a:r>
            <a:endParaRPr lang="en-US" sz="650" dirty="0"/>
          </a:p>
        </p:txBody>
      </p:sp>
      <p:sp>
        <p:nvSpPr>
          <p:cNvPr id="9" name="Shape 5"/>
          <p:cNvSpPr/>
          <p:nvPr/>
        </p:nvSpPr>
        <p:spPr>
          <a:xfrm>
            <a:off x="4617720" y="622912"/>
            <a:ext cx="4206240" cy="2394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Shape 6"/>
          <p:cNvSpPr/>
          <p:nvPr/>
        </p:nvSpPr>
        <p:spPr>
          <a:xfrm>
            <a:off x="4663440" y="278892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7"/>
          <p:cNvSpPr/>
          <p:nvPr/>
        </p:nvSpPr>
        <p:spPr>
          <a:xfrm>
            <a:off x="4736592" y="279806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"Gross Emissions"</a:t>
            </a:r>
            <a:endParaRPr lang="en-US" sz="650" dirty="0"/>
          </a:p>
        </p:txBody>
      </p:sp>
      <p:sp>
        <p:nvSpPr>
          <p:cNvPr id="13" name="Shape 8"/>
          <p:cNvSpPr/>
          <p:nvPr/>
        </p:nvSpPr>
        <p:spPr>
          <a:xfrm>
            <a:off x="274320" y="3075099"/>
            <a:ext cx="4206240" cy="1980106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5" name="Shape 9"/>
          <p:cNvSpPr/>
          <p:nvPr/>
        </p:nvSpPr>
        <p:spPr>
          <a:xfrm>
            <a:off x="320040" y="4754880"/>
            <a:ext cx="41148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0"/>
          <p:cNvSpPr/>
          <p:nvPr/>
        </p:nvSpPr>
        <p:spPr>
          <a:xfrm>
            <a:off x="393192" y="4764024"/>
            <a:ext cx="3968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§1.4 GHG Emissions Intensity → Table 1.4.1 col "Ratio" + Table 1.4.2 col "2024" &amp; "2023"</a:t>
            </a:r>
            <a:endParaRPr lang="en-US" sz="650" dirty="0"/>
          </a:p>
        </p:txBody>
      </p:sp>
      <p:sp>
        <p:nvSpPr>
          <p:cNvPr id="17" name="Shape 11"/>
          <p:cNvSpPr/>
          <p:nvPr/>
        </p:nvSpPr>
        <p:spPr>
          <a:xfrm>
            <a:off x="4617720" y="3127248"/>
            <a:ext cx="4206240" cy="1874520"/>
          </a:xfrm>
          <a:prstGeom prst="roundRect">
            <a:avLst>
              <a:gd name="adj" fmla="val 5854"/>
            </a:avLst>
          </a:prstGeom>
          <a:solidFill>
            <a:srgbClr val="F3F0FF"/>
          </a:solidFill>
          <a:ln w="19050">
            <a:solidFill>
              <a:srgbClr val="6C5CE7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Shape 12"/>
          <p:cNvSpPr/>
          <p:nvPr/>
        </p:nvSpPr>
        <p:spPr>
          <a:xfrm>
            <a:off x="4617720" y="3127248"/>
            <a:ext cx="420624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19" name="Shape 13"/>
          <p:cNvSpPr/>
          <p:nvPr/>
        </p:nvSpPr>
        <p:spPr>
          <a:xfrm>
            <a:off x="4754880" y="3264408"/>
            <a:ext cx="274320" cy="274320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0" name="Text 14"/>
          <p:cNvSpPr/>
          <p:nvPr/>
        </p:nvSpPr>
        <p:spPr>
          <a:xfrm>
            <a:off x="475488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⚡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5102352" y="32826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754880" y="35844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99.78% of total emissions from financed activities (Scope 3 Cat 15). Top 3 sectors = 85.93% of financed emissions despite only 20.70% of portfolio.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4754880" y="4041648"/>
            <a:ext cx="388620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18"/>
          <p:cNvSpPr/>
          <p:nvPr/>
        </p:nvSpPr>
        <p:spPr>
          <a:xfrm>
            <a:off x="4828032" y="4050792"/>
            <a:ext cx="3739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2 "constitute 99.78%" + para 4 "85.93%"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47548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6" name="Text 20"/>
          <p:cNvSpPr/>
          <p:nvPr/>
        </p:nvSpPr>
        <p:spPr>
          <a:xfrm>
            <a:off x="47548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47548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Facilities</a:t>
            </a:r>
            <a:endParaRPr lang="en-US" sz="800" dirty="0"/>
          </a:p>
        </p:txBody>
      </p:sp>
      <p:sp>
        <p:nvSpPr>
          <p:cNvPr id="28" name="Shape 22"/>
          <p:cNvSpPr/>
          <p:nvPr/>
        </p:nvSpPr>
        <p:spPr>
          <a:xfrm>
            <a:off x="4791456" y="4700016"/>
            <a:ext cx="1188720" cy="22860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3"/>
          <p:cNvSpPr/>
          <p:nvPr/>
        </p:nvSpPr>
        <p:spPr>
          <a:xfrm>
            <a:off x="4864608" y="473291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Direct GHG—Scope 1 → Table 1.1.3 → row count</a:t>
            </a:r>
            <a:endParaRPr lang="en-US" sz="650" dirty="0"/>
          </a:p>
        </p:txBody>
      </p:sp>
      <p:sp>
        <p:nvSpPr>
          <p:cNvPr id="30" name="Shape 24"/>
          <p:cNvSpPr/>
          <p:nvPr/>
        </p:nvSpPr>
        <p:spPr>
          <a:xfrm>
            <a:off x="61264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1" name="Text 25"/>
          <p:cNvSpPr/>
          <p:nvPr/>
        </p:nvSpPr>
        <p:spPr>
          <a:xfrm>
            <a:off x="61264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3.36/5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1264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PCAF Score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6163056" y="47117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28"/>
          <p:cNvSpPr/>
          <p:nvPr/>
        </p:nvSpPr>
        <p:spPr>
          <a:xfrm>
            <a:off x="6242146" y="4792286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para "PCAF score of 3.36"</a:t>
            </a:r>
            <a:endParaRPr lang="en-US" sz="650" dirty="0"/>
          </a:p>
        </p:txBody>
      </p:sp>
      <p:sp>
        <p:nvSpPr>
          <p:cNvPr id="35" name="Shape 29"/>
          <p:cNvSpPr/>
          <p:nvPr/>
        </p:nvSpPr>
        <p:spPr>
          <a:xfrm>
            <a:off x="7498080" y="4297680"/>
            <a:ext cx="1261872" cy="566928"/>
          </a:xfrm>
          <a:prstGeom prst="roundRect">
            <a:avLst>
              <a:gd name="adj" fmla="val 12903"/>
            </a:avLst>
          </a:prstGeom>
          <a:solidFill>
            <a:srgbClr val="EDF5FF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0"/>
          <p:cNvSpPr/>
          <p:nvPr/>
        </p:nvSpPr>
        <p:spPr>
          <a:xfrm>
            <a:off x="7498080" y="432511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-4.07%</a:t>
            </a:r>
            <a:endParaRPr lang="en-US" sz="1300" dirty="0"/>
          </a:p>
        </p:txBody>
      </p:sp>
      <p:sp>
        <p:nvSpPr>
          <p:cNvPr id="37" name="Text 31"/>
          <p:cNvSpPr/>
          <p:nvPr/>
        </p:nvSpPr>
        <p:spPr>
          <a:xfrm>
            <a:off x="7498080" y="4553712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Change</a:t>
            </a:r>
            <a:endParaRPr lang="en-US" sz="800" dirty="0"/>
          </a:p>
        </p:txBody>
      </p:sp>
      <p:sp>
        <p:nvSpPr>
          <p:cNvPr id="38" name="Shape 32"/>
          <p:cNvSpPr/>
          <p:nvPr/>
        </p:nvSpPr>
        <p:spPr>
          <a:xfrm>
            <a:off x="7534656" y="4725072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Text 33"/>
          <p:cNvSpPr/>
          <p:nvPr/>
        </p:nvSpPr>
        <p:spPr>
          <a:xfrm>
            <a:off x="7607808" y="4798224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§1.3 Financed Emissions—Scope 3 Cat 15 → Table 1.3.1 → col "YoY"</a:t>
            </a:r>
            <a:endParaRPr lang="en-US" sz="650" dirty="0"/>
          </a:p>
        </p:txBody>
      </p:sp>
      <p:pic>
        <p:nvPicPr>
          <p:cNvPr id="40" name="図 7">
            <a:extLst>
              <a:ext uri="{FF2B5EF4-FFF2-40B4-BE49-F238E27FC236}">
                <a16:creationId xmlns:a16="http://schemas.microsoft.com/office/drawing/2014/main" id="{62F2591E-1A7C-9E7B-1068-A19A6480FE4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704088"/>
            <a:ext cx="2731325" cy="205740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666206"/>
            <a:ext cx="3414156" cy="2095282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330" y="3108839"/>
            <a:ext cx="3319153" cy="1690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&amp; Governance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People Performance &amp; Compliance Gaps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2788920" cy="420624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Text 3"/>
          <p:cNvSpPr/>
          <p:nvPr/>
        </p:nvSpPr>
        <p:spPr>
          <a:xfrm>
            <a:off x="411480" y="34747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Pillar Score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457200" y="3703320"/>
            <a:ext cx="2377440" cy="265176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5"/>
          <p:cNvSpPr/>
          <p:nvPr/>
        </p:nvSpPr>
        <p:spPr>
          <a:xfrm>
            <a:off x="530352" y="3748092"/>
            <a:ext cx="2231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+ §2.1.2 Employment + §2.1.3 Training + §2.1.4 Diversity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3246120" y="777240"/>
            <a:ext cx="2560320" cy="4206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1" name="Text 7"/>
          <p:cNvSpPr/>
          <p:nvPr/>
        </p:nvSpPr>
        <p:spPr>
          <a:xfrm>
            <a:off x="3383280" y="8869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Social Metrics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355848" y="123444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3" name="Text 9"/>
          <p:cNvSpPr/>
          <p:nvPr/>
        </p:nvSpPr>
        <p:spPr>
          <a:xfrm>
            <a:off x="3474720" y="1325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24,997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474720" y="17099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FTE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410712" y="198424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2"/>
          <p:cNvSpPr/>
          <p:nvPr/>
        </p:nvSpPr>
        <p:spPr>
          <a:xfrm>
            <a:off x="3483864" y="199339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§2.1.1 Workforce Overview (GRI 2-7) → para 1 → "24,997 FTE"</a:t>
            </a:r>
            <a:endParaRPr lang="en-US" sz="650" dirty="0"/>
          </a:p>
        </p:txBody>
      </p:sp>
      <p:sp>
        <p:nvSpPr>
          <p:cNvPr id="17" name="Shape 13"/>
          <p:cNvSpPr/>
          <p:nvPr/>
        </p:nvSpPr>
        <p:spPr>
          <a:xfrm>
            <a:off x="3355848" y="246888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18" name="Text 14"/>
          <p:cNvSpPr/>
          <p:nvPr/>
        </p:nvSpPr>
        <p:spPr>
          <a:xfrm>
            <a:off x="3474720" y="2560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42.32%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3474720" y="29443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Female %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10712" y="321868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7"/>
          <p:cNvSpPr/>
          <p:nvPr/>
        </p:nvSpPr>
        <p:spPr>
          <a:xfrm>
            <a:off x="3483864" y="322783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§2.1.4 Diversity &amp; Equal Opportunity (GRI 405-1) → para 1 → "42.32%"</a:t>
            </a:r>
            <a:endParaRPr lang="en-US" sz="650" dirty="0"/>
          </a:p>
        </p:txBody>
      </p:sp>
      <p:sp>
        <p:nvSpPr>
          <p:cNvPr id="22" name="Shape 18"/>
          <p:cNvSpPr/>
          <p:nvPr/>
        </p:nvSpPr>
        <p:spPr>
          <a:xfrm>
            <a:off x="3355848" y="370332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F8F9FA"/>
          </a:solidFill>
          <a:ln w="1016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3" name="Text 19"/>
          <p:cNvSpPr/>
          <p:nvPr/>
        </p:nvSpPr>
        <p:spPr>
          <a:xfrm>
            <a:off x="347472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49.3 hrs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3474720" y="4178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Hrs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410712" y="4453128"/>
            <a:ext cx="21945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2"/>
          <p:cNvSpPr/>
          <p:nvPr/>
        </p:nvSpPr>
        <p:spPr>
          <a:xfrm>
            <a:off x="3483864" y="4462272"/>
            <a:ext cx="2048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§2.1.3 Training &amp; Education (GRI 404-1) → para 1 → "49.3 hrs per FTE"</a:t>
            </a:r>
            <a:endParaRPr lang="en-US" sz="650" dirty="0"/>
          </a:p>
        </p:txBody>
      </p:sp>
      <p:sp>
        <p:nvSpPr>
          <p:cNvPr id="27" name="Shape 23"/>
          <p:cNvSpPr/>
          <p:nvPr/>
        </p:nvSpPr>
        <p:spPr>
          <a:xfrm>
            <a:off x="5989320" y="777240"/>
            <a:ext cx="2971800" cy="420624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28" name="Shape 24"/>
          <p:cNvSpPr/>
          <p:nvPr/>
        </p:nvSpPr>
        <p:spPr>
          <a:xfrm>
            <a:off x="5989320" y="777240"/>
            <a:ext cx="2971800" cy="54864"/>
          </a:xfrm>
          <a:prstGeom prst="roundRect">
            <a:avLst>
              <a:gd name="adj" fmla="val 200000"/>
            </a:avLst>
          </a:prstGeom>
          <a:solidFill>
            <a:srgbClr val="6C5CE7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29" name="Text 25"/>
          <p:cNvSpPr/>
          <p:nvPr/>
        </p:nvSpPr>
        <p:spPr>
          <a:xfrm>
            <a:off x="61264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Gaps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099048" y="132588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31" name="Shape 27"/>
          <p:cNvSpPr/>
          <p:nvPr/>
        </p:nvSpPr>
        <p:spPr>
          <a:xfrm>
            <a:off x="6099048" y="132588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2" name="Shape 28"/>
          <p:cNvSpPr/>
          <p:nvPr/>
        </p:nvSpPr>
        <p:spPr>
          <a:xfrm>
            <a:off x="6263640" y="143560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3" name="Text 29"/>
          <p:cNvSpPr/>
          <p:nvPr/>
        </p:nvSpPr>
        <p:spPr>
          <a:xfrm>
            <a:off x="6263640" y="1435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6629400" y="14356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IFRS S2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629400" y="176479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36" name="Text 32"/>
          <p:cNvSpPr/>
          <p:nvPr/>
        </p:nvSpPr>
        <p:spPr>
          <a:xfrm>
            <a:off x="6629400" y="176479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37" name="Shape 33"/>
          <p:cNvSpPr/>
          <p:nvPr/>
        </p:nvSpPr>
        <p:spPr>
          <a:xfrm>
            <a:off x="6217920" y="207568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4"/>
          <p:cNvSpPr/>
          <p:nvPr/>
        </p:nvSpPr>
        <p:spPr>
          <a:xfrm>
            <a:off x="6291072" y="208483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IFRS S2 Para 5-7</a:t>
            </a:r>
            <a:endParaRPr lang="en-US" sz="650" dirty="0"/>
          </a:p>
        </p:txBody>
      </p:sp>
      <p:sp>
        <p:nvSpPr>
          <p:cNvPr id="39" name="Shape 35"/>
          <p:cNvSpPr/>
          <p:nvPr/>
        </p:nvSpPr>
        <p:spPr>
          <a:xfrm>
            <a:off x="6099048" y="251460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DEDEC"/>
          </a:solidFill>
          <a:ln w="15240">
            <a:solidFill>
              <a:srgbClr val="E17055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0" name="Shape 36"/>
          <p:cNvSpPr/>
          <p:nvPr/>
        </p:nvSpPr>
        <p:spPr>
          <a:xfrm>
            <a:off x="6099048" y="251460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1" name="Shape 37"/>
          <p:cNvSpPr/>
          <p:nvPr/>
        </p:nvSpPr>
        <p:spPr>
          <a:xfrm>
            <a:off x="6263640" y="262432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2" name="Text 38"/>
          <p:cNvSpPr/>
          <p:nvPr/>
        </p:nvSpPr>
        <p:spPr>
          <a:xfrm>
            <a:off x="626364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✖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629400" y="2624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ESRS E1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629400" y="295351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E17055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45" name="Text 41"/>
          <p:cNvSpPr/>
          <p:nvPr/>
        </p:nvSpPr>
        <p:spPr>
          <a:xfrm>
            <a:off x="6629400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(6 gaps)</a:t>
            </a:r>
            <a:endParaRPr lang="en-US" sz="850" dirty="0"/>
          </a:p>
        </p:txBody>
      </p:sp>
      <p:sp>
        <p:nvSpPr>
          <p:cNvPr id="46" name="Shape 42"/>
          <p:cNvSpPr/>
          <p:nvPr/>
        </p:nvSpPr>
        <p:spPr>
          <a:xfrm>
            <a:off x="6217920" y="326440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Text 43"/>
          <p:cNvSpPr/>
          <p:nvPr/>
        </p:nvSpPr>
        <p:spPr>
          <a:xfrm>
            <a:off x="6291072" y="327355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ESRS 2 GOV-3</a:t>
            </a:r>
            <a:endParaRPr lang="en-US" sz="650" dirty="0"/>
          </a:p>
        </p:txBody>
      </p:sp>
      <p:sp>
        <p:nvSpPr>
          <p:cNvPr id="48" name="Shape 44"/>
          <p:cNvSpPr/>
          <p:nvPr/>
        </p:nvSpPr>
        <p:spPr>
          <a:xfrm>
            <a:off x="6099048" y="370332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FEF9E7"/>
          </a:solidFill>
          <a:ln w="15240">
            <a:solidFill>
              <a:srgbClr val="FDCB6E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49" name="Shape 45"/>
          <p:cNvSpPr/>
          <p:nvPr/>
        </p:nvSpPr>
        <p:spPr>
          <a:xfrm>
            <a:off x="6099048" y="3703320"/>
            <a:ext cx="64008" cy="1005840"/>
          </a:xfrm>
          <a:prstGeom prst="roundRect">
            <a:avLst>
              <a:gd name="adj" fmla="val 142857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0" name="Shape 46"/>
          <p:cNvSpPr/>
          <p:nvPr/>
        </p:nvSpPr>
        <p:spPr>
          <a:xfrm>
            <a:off x="626364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1" name="Text 47"/>
          <p:cNvSpPr/>
          <p:nvPr/>
        </p:nvSpPr>
        <p:spPr>
          <a:xfrm>
            <a:off x="626364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▲</a:t>
            </a:r>
            <a:endParaRPr lang="en-US" sz="1100" dirty="0"/>
          </a:p>
        </p:txBody>
      </p:sp>
      <p:sp>
        <p:nvSpPr>
          <p:cNvPr id="52" name="Text 48"/>
          <p:cNvSpPr/>
          <p:nvPr/>
        </p:nvSpPr>
        <p:spPr>
          <a:xfrm>
            <a:off x="6629400" y="38130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OJK PSPK</a:t>
            </a:r>
            <a:endParaRPr lang="en-US" sz="1200" dirty="0"/>
          </a:p>
        </p:txBody>
      </p:sp>
      <p:sp>
        <p:nvSpPr>
          <p:cNvPr id="53" name="Shape 49"/>
          <p:cNvSpPr/>
          <p:nvPr/>
        </p:nvSpPr>
        <p:spPr>
          <a:xfrm>
            <a:off x="6629400" y="4142232"/>
            <a:ext cx="1463040" cy="219456"/>
          </a:xfrm>
          <a:prstGeom prst="roundRect">
            <a:avLst>
              <a:gd name="adj" fmla="val 50000"/>
            </a:avLst>
          </a:prstGeom>
          <a:solidFill>
            <a:srgbClr val="FDCB6E"/>
          </a:solidFill>
          <a:ln/>
        </p:spPr>
        <p:txBody>
          <a:bodyPr/>
          <a:lstStyle/>
          <a:p>
            <a:endParaRPr lang="en-ID"/>
          </a:p>
        </p:txBody>
      </p:sp>
      <p:sp>
        <p:nvSpPr>
          <p:cNvPr id="54" name="Text 50"/>
          <p:cNvSpPr/>
          <p:nvPr/>
        </p:nvSpPr>
        <p:spPr>
          <a:xfrm>
            <a:off x="6629400" y="41422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 (3 gaps)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6217920" y="4453128"/>
            <a:ext cx="242316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Text 52"/>
          <p:cNvSpPr/>
          <p:nvPr/>
        </p:nvSpPr>
        <p:spPr>
          <a:xfrm>
            <a:off x="6291072" y="4462272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§3.1 Climate Governance → Framework Requirements Not Met → OJK POJK 51/2017</a:t>
            </a:r>
            <a:endParaRPr lang="en-US" sz="650" dirty="0"/>
          </a:p>
        </p:txBody>
      </p:sp>
      <p:pic>
        <p:nvPicPr>
          <p:cNvPr id="57" name="図 7">
            <a:extLst>
              <a:ext uri="{FF2B5EF4-FFF2-40B4-BE49-F238E27FC236}">
                <a16:creationId xmlns:a16="http://schemas.microsoft.com/office/drawing/2014/main" id="{F6FA71C6-2FD2-313E-3204-AACE1A9A935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822960"/>
            <a:ext cx="2697480" cy="2606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1371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Roadmap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914400" y="4754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36E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ESG Initiatives Timeline 2025–2026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274320" y="777240"/>
            <a:ext cx="85953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5240">
            <a:solidFill>
              <a:srgbClr val="E8ECF0"/>
            </a:solidFill>
            <a:prstDash val="solid"/>
          </a:ln>
          <a:effectLst>
            <a:outerShdw blurRad="152400" dist="50800" dir="8700000" algn="bl" rotWithShape="0">
              <a:srgbClr val="2D3436">
                <a:alpha val="12000"/>
              </a:srgbClr>
            </a:outerShdw>
          </a:effectLst>
        </p:spPr>
        <p:txBody>
          <a:bodyPr/>
          <a:lstStyle/>
          <a:p>
            <a:endParaRPr lang="en-ID"/>
          </a:p>
        </p:txBody>
      </p:sp>
      <p:sp>
        <p:nvSpPr>
          <p:cNvPr id="7" name="Shape 3"/>
          <p:cNvSpPr/>
          <p:nvPr/>
        </p:nvSpPr>
        <p:spPr>
          <a:xfrm>
            <a:off x="320040" y="4572000"/>
            <a:ext cx="8503920" cy="182880"/>
          </a:xfrm>
          <a:prstGeom prst="roundRect">
            <a:avLst>
              <a:gd name="adj" fmla="val 50000"/>
            </a:avLst>
          </a:prstGeom>
          <a:solidFill>
            <a:srgbClr val="FEF9E7"/>
          </a:solidFill>
          <a:ln w="10160">
            <a:solidFill>
              <a:srgbClr val="F5D76E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4"/>
          <p:cNvSpPr/>
          <p:nvPr/>
        </p:nvSpPr>
        <p:spPr>
          <a:xfrm>
            <a:off x="393192" y="4581144"/>
            <a:ext cx="8357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9A7B1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§1.1 + §1.4 + §1.5 Emission Reduction → Priority Actions (text + Timeline) + §3.1 Climate Governance → Recommended Infrastructure Phase 1-3</a:t>
            </a:r>
            <a:endParaRPr lang="en-US" sz="650" dirty="0"/>
          </a:p>
        </p:txBody>
      </p:sp>
      <p:pic>
        <p:nvPicPr>
          <p:cNvPr id="9" name="図 7">
            <a:extLst>
              <a:ext uri="{FF2B5EF4-FFF2-40B4-BE49-F238E27FC236}">
                <a16:creationId xmlns:a16="http://schemas.microsoft.com/office/drawing/2014/main" id="{DDAFB74C-6121-564D-0694-B85E9263E8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444" y="172080"/>
            <a:ext cx="746399" cy="468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822960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654</Words>
  <Application>Microsoft Office PowerPoint</Application>
  <PresentationFormat>On-screen Show (16:9)</PresentationFormat>
  <Paragraphs>93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ESG Performance Dashboard</dc:title>
  <dc:subject>PptxGenJS Presentation</dc:subject>
  <dc:creator>Tokaicom Mitra Indonesia</dc:creator>
  <cp:lastModifiedBy>Damayanti Erika</cp:lastModifiedBy>
  <cp:revision>2</cp:revision>
  <dcterms:created xsi:type="dcterms:W3CDTF">2026-06-12T10:54:56Z</dcterms:created>
  <dcterms:modified xsi:type="dcterms:W3CDTF">2026-06-12T11:08:49Z</dcterms:modified>
</cp:coreProperties>
</file>