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6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Dashboard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Tokaicom Mitra Indonesia  |  FY2024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38404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GHG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22.03M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  ▼ 4.07%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02336" y="158511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§"Total (Scope 1+2+3)" → col "Emissions" &amp; "YoY Change"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46888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246888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257860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7860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tCO₂e/IDR Bn  ▼ 11.3%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2374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259689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→ row "Revenue-Based" → col "Ratio"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66344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466344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984E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477316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7316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7316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/5.0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1830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79145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 → Table 1.3.1 → row "Portfolio Weighted" → col "PCAF Score"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85800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4"/>
          <p:cNvSpPr/>
          <p:nvPr/>
        </p:nvSpPr>
        <p:spPr>
          <a:xfrm>
            <a:off x="685800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696772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6772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6772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footprint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1286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98601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 Scope 1 Emissions by Source (2024) → col "% of Total"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743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34" name="Image 1" descr="artifacts/chart_stacke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29968"/>
            <a:ext cx="3076303" cy="178308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200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3931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Tbl 1.1.2 + §1.2 Scope 2 + §1.3 Scope 3 Cat 15 → Tbl 1.3.1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6177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pic>
        <p:nvPicPr>
          <p:cNvPr id="38" name="Image 2" descr="artifacts/chart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334" y="2029968"/>
            <a:ext cx="2493819" cy="178308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6634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5"/>
          <p:cNvSpPr/>
          <p:nvPr/>
        </p:nvSpPr>
        <p:spPr>
          <a:xfrm>
            <a:off x="47365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"Emission Share (%)"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2743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Text 37"/>
          <p:cNvSpPr/>
          <p:nvPr/>
        </p:nvSpPr>
        <p:spPr>
          <a:xfrm>
            <a:off x="4114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Scorecard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114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EF9E7"/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39"/>
          <p:cNvSpPr/>
          <p:nvPr/>
        </p:nvSpPr>
        <p:spPr>
          <a:xfrm>
            <a:off x="466344" y="4425696"/>
            <a:ext cx="228600" cy="228600"/>
          </a:xfrm>
          <a:prstGeom prst="ellipse">
            <a:avLst/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0"/>
          <p:cNvSpPr/>
          <p:nvPr/>
        </p:nvSpPr>
        <p:spPr>
          <a:xfrm>
            <a:off x="4663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315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315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Emissions -4.07% YoY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425196" y="4850001"/>
            <a:ext cx="1225296" cy="28346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4"/>
          <p:cNvSpPr/>
          <p:nvPr/>
        </p:nvSpPr>
        <p:spPr>
          <a:xfrm>
            <a:off x="522099" y="4906649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1.1.2 → col "% Change" (+2.36%)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17830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8F8F0"/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6"/>
          <p:cNvSpPr/>
          <p:nvPr/>
        </p:nvSpPr>
        <p:spPr>
          <a:xfrm>
            <a:off x="1837944" y="4425696"/>
            <a:ext cx="228600" cy="22860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2" name="Text 47"/>
          <p:cNvSpPr/>
          <p:nvPr/>
        </p:nvSpPr>
        <p:spPr>
          <a:xfrm>
            <a:off x="18379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21031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21031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42.3%, Training 49.3h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1801368" y="4824711"/>
            <a:ext cx="1225296" cy="32004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1"/>
          <p:cNvSpPr/>
          <p:nvPr/>
        </p:nvSpPr>
        <p:spPr>
          <a:xfrm>
            <a:off x="1874520" y="4907007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→ "42.32%" + §2.1.3 Training → "49.3 hrs"</a:t>
            </a:r>
            <a:endParaRPr lang="en-US" sz="650" dirty="0"/>
          </a:p>
        </p:txBody>
      </p:sp>
      <p:sp>
        <p:nvSpPr>
          <p:cNvPr id="57" name="Shape 52"/>
          <p:cNvSpPr/>
          <p:nvPr/>
        </p:nvSpPr>
        <p:spPr>
          <a:xfrm>
            <a:off x="31546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3"/>
          <p:cNvSpPr/>
          <p:nvPr/>
        </p:nvSpPr>
        <p:spPr>
          <a:xfrm>
            <a:off x="3209544" y="4425696"/>
            <a:ext cx="228600" cy="228600"/>
          </a:xfrm>
          <a:prstGeom prst="ellipse">
            <a:avLst/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9" name="Text 54"/>
          <p:cNvSpPr/>
          <p:nvPr/>
        </p:nvSpPr>
        <p:spPr>
          <a:xfrm>
            <a:off x="32095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4747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4747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IFRS/ESRS not established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3172968" y="4806895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58"/>
          <p:cNvSpPr/>
          <p:nvPr/>
        </p:nvSpPr>
        <p:spPr>
          <a:xfrm>
            <a:off x="3246120" y="4889191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&amp; ESG Oversight → Governance Gap Analysis → para 1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46177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5" name="Shape 60"/>
          <p:cNvSpPr/>
          <p:nvPr/>
        </p:nvSpPr>
        <p:spPr>
          <a:xfrm>
            <a:off x="4617720" y="4114800"/>
            <a:ext cx="64008" cy="9144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6" name="Text 61"/>
          <p:cNvSpPr/>
          <p:nvPr/>
        </p:nvSpPr>
        <p:spPr>
          <a:xfrm>
            <a:off x="480060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Actions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4800600" y="4398264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8" name="Text 63"/>
          <p:cNvSpPr/>
          <p:nvPr/>
        </p:nvSpPr>
        <p:spPr>
          <a:xfrm>
            <a:off x="4800600" y="4398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4983480" y="438912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sector emission targets (O&amp;G, Cement, Steel)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4800600" y="4562856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1" name="Text 66"/>
          <p:cNvSpPr/>
          <p:nvPr/>
        </p:nvSpPr>
        <p:spPr>
          <a:xfrm>
            <a:off x="4800600" y="456285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4983480" y="45537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PCAF data quality 3.36 → ≤3.0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4800600" y="4727448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4" name="Text 69"/>
          <p:cNvSpPr/>
          <p:nvPr/>
        </p:nvSpPr>
        <p:spPr>
          <a:xfrm>
            <a:off x="4800600" y="47274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4983480" y="4718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limited assurance (Scope 1, 2, 3)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4800600" y="4917576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7" name="Text 72"/>
          <p:cNvSpPr/>
          <p:nvPr/>
        </p:nvSpPr>
        <p:spPr>
          <a:xfrm>
            <a:off x="4873752" y="492672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§1.5 Emission Reduction Initiatives → Priority Actions → items 1-3 text + timeline</a:t>
            </a:r>
            <a:endParaRPr lang="en-US" sz="650" dirty="0"/>
          </a:p>
        </p:txBody>
      </p:sp>
      <p:pic>
        <p:nvPicPr>
          <p:cNvPr id="78" name="図 7">
            <a:extLst>
              <a:ext uri="{FF2B5EF4-FFF2-40B4-BE49-F238E27FC236}">
                <a16:creationId xmlns:a16="http://schemas.microsoft.com/office/drawing/2014/main" id="{C35FF680-9569-3A2F-7C0F-730D668A4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Deep Dive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Financed Emissions &amp; Operational Footprint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666206"/>
            <a:ext cx="4206240" cy="23513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1" descr="artifacts/chart_scope1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04088"/>
            <a:ext cx="2731325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1.1.1 → col "Emissions" &amp; "% of Scope 1"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617720" y="622912"/>
            <a:ext cx="4206240" cy="2394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0" name="Image 2" descr="artifacts/chart_scope3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66206"/>
            <a:ext cx="3414156" cy="209528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634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7"/>
          <p:cNvSpPr/>
          <p:nvPr/>
        </p:nvSpPr>
        <p:spPr>
          <a:xfrm>
            <a:off x="47365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"Gross Emissions"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274320" y="3075099"/>
            <a:ext cx="4206240" cy="1980106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4" name="Image 3" descr="artifacts/chart_inten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30" y="3108839"/>
            <a:ext cx="3319153" cy="169033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20040" y="475488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0"/>
          <p:cNvSpPr/>
          <p:nvPr/>
        </p:nvSpPr>
        <p:spPr>
          <a:xfrm>
            <a:off x="393192" y="476402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col "Ratio" + Table 1.4.2 col "2024" &amp; "2023"</a:t>
            </a:r>
            <a:endParaRPr lang="en-US" sz="650" dirty="0"/>
          </a:p>
        </p:txBody>
      </p:sp>
      <p:sp>
        <p:nvSpPr>
          <p:cNvPr id="17" name="Shape 11"/>
          <p:cNvSpPr/>
          <p:nvPr/>
        </p:nvSpPr>
        <p:spPr>
          <a:xfrm>
            <a:off x="4617720" y="3127248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3F0FF"/>
          </a:solidFill>
          <a:ln w="19050">
            <a:solidFill>
              <a:srgbClr val="6C5CE7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4617720" y="3127248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4754880" y="326440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4"/>
          <p:cNvSpPr/>
          <p:nvPr/>
        </p:nvSpPr>
        <p:spPr>
          <a:xfrm>
            <a:off x="475488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102352" y="3282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88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 of total emissions from financed activities (Scope 3 Cat 15). Top 3 sectors = 85.93% of financed emissions despite only 20.70% of portfolio.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54880" y="4041648"/>
            <a:ext cx="38862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/>
          <p:nvPr/>
        </p:nvSpPr>
        <p:spPr>
          <a:xfrm>
            <a:off x="4828032" y="4050792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2 "constitute 99.78%" + para 4 "85.93%"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47548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0"/>
          <p:cNvSpPr/>
          <p:nvPr/>
        </p:nvSpPr>
        <p:spPr>
          <a:xfrm>
            <a:off x="47548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548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Facilities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791456" y="4700016"/>
            <a:ext cx="1188720" cy="22860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3"/>
          <p:cNvSpPr/>
          <p:nvPr/>
        </p:nvSpPr>
        <p:spPr>
          <a:xfrm>
            <a:off x="4864608" y="473291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Table 1.1.3 → row count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1264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5"/>
          <p:cNvSpPr/>
          <p:nvPr/>
        </p:nvSpPr>
        <p:spPr>
          <a:xfrm>
            <a:off x="61264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3.36/5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1264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163056" y="47117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28"/>
          <p:cNvSpPr/>
          <p:nvPr/>
        </p:nvSpPr>
        <p:spPr>
          <a:xfrm>
            <a:off x="6242146" y="479228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"PCAF score of 3.36"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74980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0"/>
          <p:cNvSpPr/>
          <p:nvPr/>
        </p:nvSpPr>
        <p:spPr>
          <a:xfrm>
            <a:off x="74980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-4.07%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4980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534656" y="47250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3"/>
          <p:cNvSpPr/>
          <p:nvPr/>
        </p:nvSpPr>
        <p:spPr>
          <a:xfrm>
            <a:off x="7607808" y="47982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"YoY"</a:t>
            </a:r>
            <a:endParaRPr lang="en-US" sz="650" dirty="0"/>
          </a:p>
        </p:txBody>
      </p:sp>
      <p:pic>
        <p:nvPicPr>
          <p:cNvPr id="40" name="図 7">
            <a:extLst>
              <a:ext uri="{FF2B5EF4-FFF2-40B4-BE49-F238E27FC236}">
                <a16:creationId xmlns:a16="http://schemas.microsoft.com/office/drawing/2014/main" id="{62F2591E-1A7C-9E7B-1068-A19A6480FE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&amp; Governance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Performance &amp; Compliance Gaps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1" descr="artifacts/chart_so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269748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Pillar Score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703320"/>
            <a:ext cx="2377440" cy="2651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530352" y="374809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+ §2.1.2 Employment + §2.1.3 Training + §2.1.4 Diversity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3246120" y="77724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383280" y="886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Metrics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1234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34747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24,997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0" y="1709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10712" y="19842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3483864" y="19933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Overview (GRI 2-7) → para 1 → "24,997 FTE"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3355848" y="24688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34747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42.32%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7472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10712" y="321868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3483864" y="32278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(GRI 405-1) → para 1 → "42.32%"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3355848" y="37033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34747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49.3 hrs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3474720" y="4178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Hrs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410712" y="445312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3483864" y="446227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§2.1.3 Training &amp; Education (GRI 404-1) → para 1 → "49.3 hrs per FTE"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5989320" y="777240"/>
            <a:ext cx="2971800" cy="42062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4"/>
          <p:cNvSpPr/>
          <p:nvPr/>
        </p:nvSpPr>
        <p:spPr>
          <a:xfrm>
            <a:off x="5989320" y="777240"/>
            <a:ext cx="297180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5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Gaps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099048" y="13258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7"/>
          <p:cNvSpPr/>
          <p:nvPr/>
        </p:nvSpPr>
        <p:spPr>
          <a:xfrm>
            <a:off x="6099048" y="132588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28"/>
          <p:cNvSpPr/>
          <p:nvPr/>
        </p:nvSpPr>
        <p:spPr>
          <a:xfrm>
            <a:off x="6263640" y="14356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9"/>
          <p:cNvSpPr/>
          <p:nvPr/>
        </p:nvSpPr>
        <p:spPr>
          <a:xfrm>
            <a:off x="62636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6294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 S2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629400" y="17647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6629400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217920" y="207568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4"/>
          <p:cNvSpPr/>
          <p:nvPr/>
        </p:nvSpPr>
        <p:spPr>
          <a:xfrm>
            <a:off x="6291072" y="208483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IFRS S2 Para 5-7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099048" y="25146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6"/>
          <p:cNvSpPr/>
          <p:nvPr/>
        </p:nvSpPr>
        <p:spPr>
          <a:xfrm>
            <a:off x="6099048" y="251460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Shape 37"/>
          <p:cNvSpPr/>
          <p:nvPr/>
        </p:nvSpPr>
        <p:spPr>
          <a:xfrm>
            <a:off x="6263640" y="26243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38"/>
          <p:cNvSpPr/>
          <p:nvPr/>
        </p:nvSpPr>
        <p:spPr>
          <a:xfrm>
            <a:off x="626364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2940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ESRS E1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629400" y="295351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1"/>
          <p:cNvSpPr/>
          <p:nvPr/>
        </p:nvSpPr>
        <p:spPr>
          <a:xfrm>
            <a:off x="6629400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217920" y="326440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3"/>
          <p:cNvSpPr/>
          <p:nvPr/>
        </p:nvSpPr>
        <p:spPr>
          <a:xfrm>
            <a:off x="6291072" y="327355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ESRS 2 GOV-3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099048" y="37033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5240">
            <a:solidFill>
              <a:srgbClr val="FDCB6E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9" name="Shape 45"/>
          <p:cNvSpPr/>
          <p:nvPr/>
        </p:nvSpPr>
        <p:spPr>
          <a:xfrm>
            <a:off x="6099048" y="370332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46"/>
          <p:cNvSpPr/>
          <p:nvPr/>
        </p:nvSpPr>
        <p:spPr>
          <a:xfrm>
            <a:off x="626364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7"/>
          <p:cNvSpPr/>
          <p:nvPr/>
        </p:nvSpPr>
        <p:spPr>
          <a:xfrm>
            <a:off x="6263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▲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66294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OJK PSPK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629400" y="414223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4" name="Text 50"/>
          <p:cNvSpPr/>
          <p:nvPr/>
        </p:nvSpPr>
        <p:spPr>
          <a:xfrm>
            <a:off x="6629400" y="4142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(3 gaps)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217920" y="445312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2"/>
          <p:cNvSpPr/>
          <p:nvPr/>
        </p:nvSpPr>
        <p:spPr>
          <a:xfrm>
            <a:off x="6291072" y="446227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OJK POJK 51/2017</a:t>
            </a:r>
            <a:endParaRPr lang="en-US" sz="650" dirty="0"/>
          </a:p>
        </p:txBody>
      </p:sp>
      <p:pic>
        <p:nvPicPr>
          <p:cNvPr id="57" name="図 7">
            <a:extLst>
              <a:ext uri="{FF2B5EF4-FFF2-40B4-BE49-F238E27FC236}">
                <a16:creationId xmlns:a16="http://schemas.microsoft.com/office/drawing/2014/main" id="{F6FA71C6-2FD2-313E-3204-AACE1A9A9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Initiatives Timeline 2025–2026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1" descr="artifacts/chart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8412480" cy="3703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572000"/>
            <a:ext cx="850392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4581144"/>
            <a:ext cx="8357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+ §1.4 + §1.5 Emission Reduction → Priority Actions (text + Timeline) + §3.1 Climate Governance → Recommended Infrastructure Phase 1-3</a:t>
            </a:r>
            <a:endParaRPr lang="en-US" sz="650" dirty="0"/>
          </a:p>
        </p:txBody>
      </p:sp>
      <p:pic>
        <p:nvPicPr>
          <p:cNvPr id="9" name="図 7">
            <a:extLst>
              <a:ext uri="{FF2B5EF4-FFF2-40B4-BE49-F238E27FC236}">
                <a16:creationId xmlns:a16="http://schemas.microsoft.com/office/drawing/2014/main" id="{DDAFB74C-6121-564D-0694-B85E9263E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654</Words>
  <Application>Microsoft Office PowerPoint</Application>
  <PresentationFormat>On-screen Show (16:9)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Performance Dashboard</dc:title>
  <dc:subject>PptxGenJS Presentation</dc:subject>
  <dc:creator>Tokaicom Mitra Indonesia</dc:creator>
  <cp:lastModifiedBy>Damayanti Erika</cp:lastModifiedBy>
  <cp:revision>2</cp:revision>
  <dcterms:created xsi:type="dcterms:W3CDTF">2026-06-12T10:54:56Z</dcterms:created>
  <dcterms:modified xsi:type="dcterms:W3CDTF">2026-06-12T11:08:49Z</dcterms:modified>
</cp:coreProperties>
</file>